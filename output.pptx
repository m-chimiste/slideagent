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676656"/>
            <a:ext cx="256032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2000"/>
              </a:lnSpc>
            </a:pPr>
            <a:r>
              <a:rPr sz="1000" b="1">
                <a:solidFill>
                  <a:srgbClr val="CBCED4"/>
                </a:solidFill>
                <a:latin typeface="Cambria"/>
              </a:rPr>
              <a:t>EXECUTIVE PERSPECTIVE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987552"/>
            <a:ext cx="1051560" cy="36576"/>
          </a:xfrm>
          <a:prstGeom prst="rect">
            <a:avLst/>
          </a:prstGeom>
          <a:solidFill>
            <a:srgbClr val="C8893B"/>
          </a:solidFill>
          <a:ln>
            <a:solidFill>
              <a:srgbClr val="C88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353312"/>
            <a:ext cx="7543800" cy="1325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2000"/>
              </a:lnSpc>
            </a:pPr>
            <a:r>
              <a:rPr sz="3400" b="1">
                <a:solidFill>
                  <a:srgbClr val="FFFFFF"/>
                </a:solidFill>
                <a:latin typeface="Cambria"/>
              </a:rPr>
              <a:t>Bootstrapping Benchmarks: Agent-Assisted Discovery of Implicit Ground Truth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971800"/>
            <a:ext cx="64008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2000"/>
              </a:lnSpc>
            </a:pPr>
            <a:r>
              <a:rPr sz="1400" b="0">
                <a:solidFill>
                  <a:srgbClr val="C7CAD0"/>
                </a:solidFill>
                <a:latin typeface="Calibri"/>
              </a:rPr>
              <a:t>Executive Overview Deck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1115568"/>
            <a:ext cx="2907792" cy="749808"/>
          </a:xfrm>
          <a:prstGeom prst="rect">
            <a:avLst/>
          </a:prstGeom>
          <a:solidFill>
            <a:srgbClr val="3A455C"/>
          </a:solidFill>
          <a:ln>
            <a:solidFill>
              <a:srgbClr val="6971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94192" y="1325880"/>
            <a:ext cx="530352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2000"/>
              </a:lnSpc>
            </a:pPr>
            <a:r>
              <a:rPr sz="1000" b="1">
                <a:solidFill>
                  <a:srgbClr val="C8893B"/>
                </a:solidFill>
                <a:latin typeface="Cambr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79408" y="1298448"/>
            <a:ext cx="169164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2000"/>
              </a:lnSpc>
            </a:pPr>
            <a:r>
              <a:rPr sz="1100" b="1">
                <a:solidFill>
                  <a:srgbClr val="FFFFFF"/>
                </a:solidFill>
                <a:latin typeface="Cambria"/>
              </a:rPr>
              <a:t>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79408" y="1572768"/>
            <a:ext cx="1901952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2000"/>
              </a:lnSpc>
            </a:pPr>
            <a:r>
              <a:rPr sz="800" b="0">
                <a:solidFill>
                  <a:srgbClr val="D5D7DC"/>
                </a:solidFill>
                <a:latin typeface="Calibri"/>
              </a:rPr>
              <a:t>Keep knowledge persistent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692640" y="1883664"/>
            <a:ext cx="0" cy="310896"/>
          </a:xfrm>
          <a:prstGeom prst="line">
            <a:avLst/>
          </a:prstGeom>
          <a:ln w="15240">
            <a:solidFill>
              <a:srgbClr val="C88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8229600" y="2231136"/>
            <a:ext cx="2907792" cy="749808"/>
          </a:xfrm>
          <a:prstGeom prst="rect">
            <a:avLst/>
          </a:prstGeom>
          <a:solidFill>
            <a:srgbClr val="4C566C"/>
          </a:solidFill>
          <a:ln>
            <a:solidFill>
              <a:srgbClr val="6971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94192" y="2441448"/>
            <a:ext cx="530352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2000"/>
              </a:lnSpc>
            </a:pPr>
            <a:r>
              <a:rPr sz="1000" b="1">
                <a:solidFill>
                  <a:srgbClr val="C8893B"/>
                </a:solidFill>
                <a:latin typeface="Cambr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79408" y="2414016"/>
            <a:ext cx="169164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2000"/>
              </a:lnSpc>
            </a:pPr>
            <a:r>
              <a:rPr sz="1100" b="1">
                <a:solidFill>
                  <a:srgbClr val="FFFFFF"/>
                </a:solidFill>
                <a:latin typeface="Cambria"/>
              </a:rPr>
              <a:t>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79408" y="2688336"/>
            <a:ext cx="1901952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2000"/>
              </a:lnSpc>
            </a:pPr>
            <a:r>
              <a:rPr sz="800" b="0">
                <a:solidFill>
                  <a:srgbClr val="D5D7DC"/>
                </a:solidFill>
                <a:latin typeface="Calibri"/>
              </a:rPr>
              <a:t>Pressure-test the change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692640" y="2999232"/>
            <a:ext cx="0" cy="310896"/>
          </a:xfrm>
          <a:prstGeom prst="line">
            <a:avLst/>
          </a:prstGeom>
          <a:ln w="15240">
            <a:solidFill>
              <a:srgbClr val="C88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8229600" y="3346704"/>
            <a:ext cx="2907792" cy="749808"/>
          </a:xfrm>
          <a:prstGeom prst="rect">
            <a:avLst/>
          </a:prstGeom>
          <a:solidFill>
            <a:srgbClr val="5F687B"/>
          </a:solidFill>
          <a:ln>
            <a:solidFill>
              <a:srgbClr val="6971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94192" y="3557016"/>
            <a:ext cx="530352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2000"/>
              </a:lnSpc>
            </a:pPr>
            <a:r>
              <a:rPr sz="1000" b="1">
                <a:solidFill>
                  <a:srgbClr val="C8893B"/>
                </a:solidFill>
                <a:latin typeface="Cambria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79408" y="3529584"/>
            <a:ext cx="169164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2000"/>
              </a:lnSpc>
            </a:pPr>
            <a:r>
              <a:rPr sz="1100" b="1">
                <a:solidFill>
                  <a:srgbClr val="FFFFFF"/>
                </a:solidFill>
                <a:latin typeface="Cambria"/>
              </a:rPr>
              <a:t>Execution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79408" y="3803904"/>
            <a:ext cx="1901952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2000"/>
              </a:lnSpc>
            </a:pPr>
            <a:r>
              <a:rPr sz="800" b="0">
                <a:solidFill>
                  <a:srgbClr val="D5D7DC"/>
                </a:solidFill>
                <a:latin typeface="Calibri"/>
              </a:rPr>
              <a:t>Commit to next actions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164592"/>
            <a:ext cx="4937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C8893B"/>
                </a:solidFill>
                <a:latin typeface="Calibri"/>
              </a:rPr>
              <a:t>SECTION 01 - 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38383" y="146304"/>
            <a:ext cx="658368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D9DBE0"/>
                </a:solidFill>
                <a:latin typeface="Cambria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438912"/>
            <a:ext cx="1106424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4000"/>
              </a:lnSpc>
            </a:pPr>
            <a:r>
              <a:rPr sz="2400" b="1">
                <a:solidFill>
                  <a:srgbClr val="14213D"/>
                </a:solidFill>
                <a:latin typeface="Cambria"/>
              </a:rPr>
              <a:t>Current benchmarks need harnesses that discover operational truth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04672"/>
            <a:ext cx="9692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44506A"/>
                </a:solidFill>
                <a:latin typeface="Calibri"/>
              </a:rPr>
              <a:t>Executive Summary: Problem vs.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00800"/>
            <a:ext cx="97840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4506A"/>
                </a:solidFill>
                <a:latin typeface="Calibri"/>
              </a:rPr>
              <a:t>Source: Bootstrapping Benchmarks &gt; 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33888" y="6400800"/>
            <a:ext cx="8229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44506A"/>
                </a:solidFill>
                <a:latin typeface="Calibri"/>
              </a:rPr>
              <a:t>2/16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417320"/>
            <a:ext cx="5372100" cy="621792"/>
          </a:xfrm>
          <a:prstGeom prst="rect">
            <a:avLst/>
          </a:prstGeom>
          <a:solidFill>
            <a:srgbClr val="14213D"/>
          </a:solidFill>
          <a:ln>
            <a:solidFill>
              <a:srgbClr val="EA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rm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6149340" y="1417320"/>
            <a:ext cx="5372100" cy="621792"/>
          </a:xfrm>
          <a:prstGeom prst="rect">
            <a:avLst/>
          </a:prstGeom>
          <a:solidFill>
            <a:srgbClr val="14213D"/>
          </a:solidFill>
          <a:ln>
            <a:solidFill>
              <a:srgbClr val="EA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rm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Implication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039112"/>
            <a:ext cx="5372100" cy="621792"/>
          </a:xfrm>
          <a:prstGeom prst="rect">
            <a:avLst/>
          </a:prstGeom>
          <a:solidFill>
            <a:srgbClr val="F4F6F8"/>
          </a:solidFill>
          <a:ln>
            <a:solidFill>
              <a:srgbClr val="EA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rmAutofit/>
          </a:bodyPr>
          <a:lstStyle/>
          <a:p>
            <a:pPr algn="ctr"/>
            <a:r>
              <a:rPr sz="900" b="0">
                <a:solidFill>
                  <a:srgbClr val="14213D"/>
                </a:solidFill>
                <a:latin typeface="Calibri"/>
              </a:rPr>
              <a:t>Benchmarks are foundational 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49340" y="2039112"/>
            <a:ext cx="5372100" cy="621792"/>
          </a:xfrm>
          <a:prstGeom prst="rect">
            <a:avLst/>
          </a:prstGeom>
          <a:solidFill>
            <a:srgbClr val="F4F6F8"/>
          </a:solidFill>
          <a:ln>
            <a:solidFill>
              <a:srgbClr val="EA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rmAutofit/>
          </a:bodyPr>
          <a:lstStyle/>
          <a:p>
            <a:pPr algn="ctr"/>
            <a:r>
              <a:rPr sz="900" b="0">
                <a:solidFill>
                  <a:srgbClr val="14213D"/>
                </a:solidFill>
                <a:latin typeface="Calibri"/>
              </a:rPr>
              <a:t>Benchmarks are foundational to model development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660904"/>
            <a:ext cx="537210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A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rmAutofit/>
          </a:bodyPr>
          <a:lstStyle/>
          <a:p>
            <a:pPr algn="ctr"/>
            <a:r>
              <a:rPr sz="900" b="0">
                <a:solidFill>
                  <a:srgbClr val="14213D"/>
                </a:solidFill>
                <a:latin typeface="Calibri"/>
              </a:rPr>
              <a:t>This white paper proposes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9340" y="2660904"/>
            <a:ext cx="537210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A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rmAutofit/>
          </a:bodyPr>
          <a:lstStyle/>
          <a:p>
            <a:pPr algn="ctr"/>
            <a:r>
              <a:rPr sz="900" b="0">
                <a:solidFill>
                  <a:srgbClr val="14213D"/>
                </a:solidFill>
                <a:latin typeface="Calibri"/>
              </a:rPr>
              <a:t>This white paper proposes a framework for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282696"/>
            <a:ext cx="5372100" cy="621792"/>
          </a:xfrm>
          <a:prstGeom prst="rect">
            <a:avLst/>
          </a:prstGeom>
          <a:solidFill>
            <a:srgbClr val="F4F6F8"/>
          </a:solidFill>
          <a:ln>
            <a:solidFill>
              <a:srgbClr val="EA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rmAutofit/>
          </a:bodyPr>
          <a:lstStyle/>
          <a:p>
            <a:pPr algn="ctr"/>
            <a:r>
              <a:rPr sz="900" b="0">
                <a:solidFill>
                  <a:srgbClr val="14213D"/>
                </a:solidFill>
                <a:latin typeface="Calibri"/>
              </a:rPr>
              <a:t>Rather than asking how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49340" y="3282696"/>
            <a:ext cx="5372100" cy="621792"/>
          </a:xfrm>
          <a:prstGeom prst="rect">
            <a:avLst/>
          </a:prstGeom>
          <a:solidFill>
            <a:srgbClr val="F4F6F8"/>
          </a:solidFill>
          <a:ln>
            <a:solidFill>
              <a:srgbClr val="EA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rmAutofit/>
          </a:bodyPr>
          <a:lstStyle/>
          <a:p>
            <a:pPr algn="ctr"/>
            <a:r>
              <a:rPr sz="900" b="0">
                <a:solidFill>
                  <a:srgbClr val="14213D"/>
                </a:solidFill>
                <a:latin typeface="Calibri"/>
              </a:rPr>
              <a:t>Rather than asking "how do we get humans to label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904488"/>
            <a:ext cx="537210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A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rmAutofit/>
          </a:bodyPr>
          <a:lstStyle/>
          <a:p>
            <a:pPr algn="ctr"/>
            <a:r>
              <a:rPr sz="900" b="0">
                <a:solidFill>
                  <a:srgbClr val="14213D"/>
                </a:solidFill>
                <a:latin typeface="Calibri"/>
              </a:rPr>
              <a:t>The framework introduces two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49340" y="3904488"/>
            <a:ext cx="537210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A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rmAutofit/>
          </a:bodyPr>
          <a:lstStyle/>
          <a:p>
            <a:pPr algn="ctr"/>
            <a:r>
              <a:rPr sz="900" b="0">
                <a:solidFill>
                  <a:srgbClr val="14213D"/>
                </a:solidFill>
                <a:latin typeface="Calibri"/>
              </a:rPr>
              <a:t>The framework introduces two core abstractions: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526280"/>
            <a:ext cx="5372100" cy="621792"/>
          </a:xfrm>
          <a:prstGeom prst="rect">
            <a:avLst/>
          </a:prstGeom>
          <a:solidFill>
            <a:srgbClr val="F4F6F8"/>
          </a:solidFill>
          <a:ln>
            <a:solidFill>
              <a:srgbClr val="EA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rmAutofit/>
          </a:bodyPr>
          <a:lstStyle/>
          <a:p>
            <a:pPr algn="ctr"/>
            <a:r>
              <a:rPr sz="900" b="0">
                <a:solidFill>
                  <a:srgbClr val="14213D"/>
                </a:solidFill>
                <a:latin typeface="Calibri"/>
              </a:rPr>
              <a:t>The Model Contract declaratively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9340" y="4526280"/>
            <a:ext cx="5372100" cy="621792"/>
          </a:xfrm>
          <a:prstGeom prst="rect">
            <a:avLst/>
          </a:prstGeom>
          <a:solidFill>
            <a:srgbClr val="F4F6F8"/>
          </a:solidFill>
          <a:ln>
            <a:solidFill>
              <a:srgbClr val="EA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rmAutofit/>
          </a:bodyPr>
          <a:lstStyle/>
          <a:p>
            <a:pPr algn="ctr"/>
            <a:r>
              <a:rPr sz="900" b="0">
                <a:solidFill>
                  <a:srgbClr val="14213D"/>
                </a:solidFill>
                <a:latin typeface="Calibri"/>
              </a:rPr>
              <a:t>The Model Contract declaratively specifies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164592"/>
            <a:ext cx="4937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C8893B"/>
                </a:solidFill>
                <a:latin typeface="Calibri"/>
              </a:rPr>
              <a:t>SECTION 02 - DIAGNOSIS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38383" y="146304"/>
            <a:ext cx="658368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D9DBE0"/>
                </a:solidFill>
                <a:latin typeface="Cambria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438912"/>
            <a:ext cx="11064240" cy="7863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4000"/>
              </a:lnSpc>
            </a:pPr>
            <a:r>
              <a:rPr sz="2400" b="1">
                <a:solidFill>
                  <a:srgbClr val="14213D"/>
                </a:solidFill>
                <a:latin typeface="Cambria"/>
              </a:rPr>
              <a:t>Use source-grounded harnesses instead of synthetic benchmark shortcuts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400800"/>
            <a:ext cx="97840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4506A"/>
                </a:solidFill>
                <a:latin typeface="Calibri"/>
              </a:rPr>
              <a:t>Source: Bootstrapping Benchmarks &gt; Introduction; Bootstrapping Benchmarks &gt; Why Not Simply Generate Synthetic Benchmarks?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33888" y="6400800"/>
            <a:ext cx="8229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44506A"/>
                </a:solidFill>
                <a:latin typeface="Calibri"/>
              </a:rPr>
              <a:t>3/16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" y="1572768"/>
            <a:ext cx="3255264" cy="3520440"/>
          </a:xfrm>
          <a:prstGeom prst="rect">
            <a:avLst/>
          </a:prstGeom>
          <a:solidFill>
            <a:srgbClr val="FFFFFF"/>
          </a:solidFill>
          <a:ln>
            <a:solidFill>
              <a:srgbClr val="EA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7552" y="1810512"/>
            <a:ext cx="621792" cy="621792"/>
          </a:xfrm>
          <a:prstGeom prst="ellipse">
            <a:avLst/>
          </a:prstGeom>
          <a:solidFill>
            <a:srgbClr val="D9DBE0"/>
          </a:solidFill>
          <a:ln>
            <a:solidFill>
              <a:srgbClr val="A6A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7295" y="1860255"/>
            <a:ext cx="522305" cy="522305"/>
          </a:xfrm>
          <a:prstGeom prst="ellipse">
            <a:avLst/>
          </a:prstGeom>
          <a:solidFill>
            <a:srgbClr val="14213D"/>
          </a:solidFill>
          <a:ln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asitemap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4762" y="1987722"/>
            <a:ext cx="267370" cy="26737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719072" y="1956816"/>
            <a:ext cx="21396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4213D"/>
                </a:solidFill>
                <a:latin typeface="Calibri"/>
              </a:rPr>
              <a:t>Important 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2633472"/>
            <a:ext cx="2724912" cy="15727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</a:pPr>
            <a:r>
              <a:rPr sz="1000">
                <a:solidFill>
                  <a:srgbClr val="14213D"/>
                </a:solidFill>
                <a:latin typeface="Calibri"/>
              </a:rPr>
              <a:t>Symptom: Important context disappears between handoffs.
Better move: Persist context in a shared record.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34256" y="1572768"/>
            <a:ext cx="3255264" cy="3520440"/>
          </a:xfrm>
          <a:prstGeom prst="rect">
            <a:avLst/>
          </a:prstGeom>
          <a:solidFill>
            <a:srgbClr val="FFFFFF"/>
          </a:solidFill>
          <a:ln>
            <a:solidFill>
              <a:srgbClr val="EA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35424" y="1810512"/>
            <a:ext cx="621792" cy="621792"/>
          </a:xfrm>
          <a:prstGeom prst="ellipse">
            <a:avLst/>
          </a:prstGeom>
          <a:solidFill>
            <a:srgbClr val="E1E3E7"/>
          </a:solidFill>
          <a:ln>
            <a:solidFill>
              <a:srgbClr val="B8B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85167" y="1860255"/>
            <a:ext cx="522305" cy="522305"/>
          </a:xfrm>
          <a:prstGeom prst="ellipse">
            <a:avLst/>
          </a:prstGeom>
          <a:solidFill>
            <a:srgbClr val="44506A"/>
          </a:solidFill>
          <a:ln>
            <a:solidFill>
              <a:srgbClr val="44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fasitemap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2634" y="1987722"/>
            <a:ext cx="267370" cy="26737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266944" y="1956816"/>
            <a:ext cx="21396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4213D"/>
                </a:solidFill>
                <a:latin typeface="Calibri"/>
              </a:rPr>
              <a:t>Recommendations look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6864" y="2633472"/>
            <a:ext cx="2724912" cy="15727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</a:pPr>
            <a:r>
              <a:rPr sz="1000">
                <a:solidFill>
                  <a:srgbClr val="14213D"/>
                </a:solidFill>
                <a:latin typeface="Calibri"/>
              </a:rPr>
              <a:t>Symptom: Recommendations look plausible before evidence is checked.
Better move: Verify claims against the source.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8" y="1572768"/>
            <a:ext cx="3255264" cy="3520440"/>
          </a:xfrm>
          <a:prstGeom prst="rect">
            <a:avLst/>
          </a:prstGeom>
          <a:solidFill>
            <a:srgbClr val="FFFFFF"/>
          </a:solidFill>
          <a:ln>
            <a:solidFill>
              <a:srgbClr val="EA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083296" y="1810512"/>
            <a:ext cx="621792" cy="621792"/>
          </a:xfrm>
          <a:prstGeom prst="ellipse">
            <a:avLst/>
          </a:prstGeom>
          <a:solidFill>
            <a:srgbClr val="F6ECE0"/>
          </a:solidFill>
          <a:ln>
            <a:solidFill>
              <a:srgbClr val="EAD2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133039" y="1860255"/>
            <a:ext cx="522305" cy="522305"/>
          </a:xfrm>
          <a:prstGeom prst="ellipse">
            <a:avLst/>
          </a:prstGeom>
          <a:solidFill>
            <a:srgbClr val="C8893B"/>
          </a:solidFill>
          <a:ln>
            <a:solidFill>
              <a:srgbClr val="C88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fasitemap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0506" y="1987722"/>
            <a:ext cx="267370" cy="26737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814816" y="1956816"/>
            <a:ext cx="21396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4213D"/>
                </a:solidFill>
                <a:latin typeface="Calibri"/>
              </a:rPr>
              <a:t>Teams cannot reproduce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74736" y="2633472"/>
            <a:ext cx="2724912" cy="15727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</a:pPr>
            <a:r>
              <a:rPr sz="1000">
                <a:solidFill>
                  <a:srgbClr val="14213D"/>
                </a:solidFill>
                <a:latin typeface="Calibri"/>
              </a:rPr>
              <a:t>Symptom: Teams cannot reproduce the reasoning behind decisions.
Better move: Record decisions beside the workflow.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164592"/>
            <a:ext cx="4937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C8893B"/>
                </a:solidFill>
                <a:latin typeface="Calibri"/>
              </a:rPr>
              <a:t>SECTION 03 - REFERENCE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38383" y="146304"/>
            <a:ext cx="658368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D9DBE0"/>
                </a:solidFill>
                <a:latin typeface="Cambria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438912"/>
            <a:ext cx="11064240" cy="7863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4000"/>
              </a:lnSpc>
            </a:pPr>
            <a:r>
              <a:rPr sz="2400" b="1">
                <a:solidFill>
                  <a:srgbClr val="14213D"/>
                </a:solidFill>
                <a:latin typeface="Cambria"/>
              </a:rPr>
              <a:t>Harness-centric design turns existing workflows into evaluation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400800"/>
            <a:ext cx="97840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4506A"/>
                </a:solidFill>
                <a:latin typeface="Calibri"/>
              </a:rPr>
              <a:t>Source: Bootstrapping Benchmarks &gt; The Harness-Centric 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33888" y="6400800"/>
            <a:ext cx="8229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44506A"/>
                </a:solidFill>
                <a:latin typeface="Calibri"/>
              </a:rPr>
              <a:t>4/16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13258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4213D"/>
                </a:solidFill>
                <a:latin typeface="Calibri"/>
              </a:rPr>
              <a:t>OPERATING RULES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" y="1664208"/>
            <a:ext cx="5193792" cy="749808"/>
          </a:xfrm>
          <a:prstGeom prst="rect">
            <a:avLst/>
          </a:prstGeom>
          <a:solidFill>
            <a:srgbClr val="FFFFFF"/>
          </a:solidFill>
          <a:ln>
            <a:solidFill>
              <a:srgbClr val="EA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1847088"/>
            <a:ext cx="384048" cy="384048"/>
          </a:xfrm>
          <a:prstGeom prst="ellipse">
            <a:avLst/>
          </a:prstGeom>
          <a:solidFill>
            <a:srgbClr val="14213D"/>
          </a:solidFill>
          <a:ln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l"/>
            <a:r>
              <a:rPr sz="1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828800"/>
            <a:ext cx="406908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</a:pPr>
            <a:r>
              <a:rPr sz="1100">
                <a:solidFill>
                  <a:srgbClr val="14213D"/>
                </a:solidFill>
                <a:latin typeface="Calibri"/>
              </a:rPr>
              <a:t>Artifact | Purpose | Update trigger.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" y="2615184"/>
            <a:ext cx="5193792" cy="749808"/>
          </a:xfrm>
          <a:prstGeom prst="rect">
            <a:avLst/>
          </a:prstGeom>
          <a:solidFill>
            <a:srgbClr val="FFFFFF"/>
          </a:solidFill>
          <a:ln>
            <a:solidFill>
              <a:srgbClr val="EA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" y="2798064"/>
            <a:ext cx="384048" cy="384048"/>
          </a:xfrm>
          <a:prstGeom prst="ellipse">
            <a:avLst/>
          </a:prstGeom>
          <a:solidFill>
            <a:srgbClr val="44506A"/>
          </a:solidFill>
          <a:ln>
            <a:solidFill>
              <a:srgbClr val="44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l"/>
            <a:r>
              <a:rPr sz="1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2779776"/>
            <a:ext cx="406908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</a:pPr>
            <a:r>
              <a:rPr sz="1100">
                <a:solidFill>
                  <a:srgbClr val="14213D"/>
                </a:solidFill>
                <a:latin typeface="Calibri"/>
              </a:rPr>
              <a:t>Instead of looking | Instead of looking at using models to try to create direct... | When conditions change.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" y="3566160"/>
            <a:ext cx="5193792" cy="749808"/>
          </a:xfrm>
          <a:prstGeom prst="rect">
            <a:avLst/>
          </a:prstGeom>
          <a:solidFill>
            <a:srgbClr val="FFFFFF"/>
          </a:solidFill>
          <a:ln>
            <a:solidFill>
              <a:srgbClr val="EA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24128" y="3749040"/>
            <a:ext cx="384048" cy="384048"/>
          </a:xfrm>
          <a:prstGeom prst="ellipse">
            <a:avLst/>
          </a:prstGeom>
          <a:solidFill>
            <a:srgbClr val="C8893B"/>
          </a:solidFill>
          <a:ln>
            <a:solidFill>
              <a:srgbClr val="C88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l"/>
            <a:r>
              <a:rPr sz="1000" b="1">
                <a:solidFill>
                  <a:srgbClr val="14213D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3730752"/>
            <a:ext cx="406908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</a:pPr>
            <a:r>
              <a:rPr sz="1100">
                <a:solidFill>
                  <a:srgbClr val="14213D"/>
                </a:solidFill>
                <a:latin typeface="Calibri"/>
              </a:rPr>
              <a:t>Connect the harness-centric | Connect the harness-centric view to an explicit review gate. | When conditions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" y="4681728"/>
            <a:ext cx="5193792" cy="676656"/>
          </a:xfrm>
          <a:prstGeom prst="rect">
            <a:avLst/>
          </a:prstGeom>
          <a:solidFill>
            <a:srgbClr val="F7EEE4"/>
          </a:solidFill>
          <a:ln>
            <a:solidFill>
              <a:srgbClr val="EED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4773168"/>
            <a:ext cx="15087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</a:pPr>
            <a:r>
              <a:rPr sz="800">
                <a:solidFill>
                  <a:srgbClr val="14213D"/>
                </a:solidFill>
                <a:latin typeface="Calibri"/>
              </a:rPr>
              <a:t>OPERATING 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" y="4956048"/>
            <a:ext cx="45720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</a:pPr>
            <a:r>
              <a:rPr sz="800">
                <a:solidFill>
                  <a:srgbClr val="14213D"/>
                </a:solidFill>
                <a:latin typeface="Calibri"/>
              </a:rPr>
              <a:t>Make the harness-centric | Make the harness-centric view visible before execution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19088" y="1371600"/>
            <a:ext cx="4736592" cy="3822191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19088" y="1371600"/>
            <a:ext cx="4736592" cy="475488"/>
          </a:xfrm>
          <a:prstGeom prst="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56832" y="1517904"/>
            <a:ext cx="16002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2000"/>
              </a:lnSpc>
            </a:pPr>
            <a:r>
              <a:rPr sz="800" b="0">
                <a:solidFill>
                  <a:srgbClr val="C8893B"/>
                </a:solidFill>
                <a:latin typeface="Calibri"/>
              </a:rPr>
              <a:t>REFERENCE ARTIFACT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1517904"/>
            <a:ext cx="23317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2000"/>
              </a:lnSpc>
            </a:pPr>
            <a:r>
              <a:rPr sz="800" b="0">
                <a:solidFill>
                  <a:srgbClr val="C1C3C7"/>
                </a:solidFill>
                <a:latin typeface="Calibri"/>
              </a:rPr>
              <a:t>operating-rules.md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11696" y="2029968"/>
            <a:ext cx="3968496" cy="228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00">
                <a:solidFill>
                  <a:srgbClr val="FFFFFF"/>
                </a:solidFill>
                <a:latin typeface="Courier New"/>
              </a:rPr>
              <a:t># operating-rules.md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00">
                <a:solidFill>
                  <a:srgbClr val="FFFFFF"/>
                </a:solidFill>
                <a:latin typeface="Courier New"/>
              </a:rPr>
              <a:t>- Artifact | Purpose | Update trigger.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00">
                <a:solidFill>
                  <a:srgbClr val="FFFFFF"/>
                </a:solidFill>
                <a:latin typeface="Courier New"/>
              </a:rPr>
              <a:t>- Instead of looking | Instead of looking at using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00">
                <a:solidFill>
                  <a:srgbClr val="FFFFFF"/>
                </a:solidFill>
                <a:latin typeface="Courier New"/>
              </a:rPr>
              <a:t>- Connect the harness-centric | Connect the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00">
                <a:solidFill>
                  <a:srgbClr val="FFFFFF"/>
                </a:solidFill>
                <a:latin typeface="Courier New"/>
              </a:rPr>
              <a:t>- Make the harness-centric | Make the harness-centric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65392" y="4462272"/>
            <a:ext cx="1298448" cy="475488"/>
          </a:xfrm>
          <a:prstGeom prst="rect">
            <a:avLst/>
          </a:prstGeom>
          <a:solidFill>
            <a:srgbClr val="1F2937"/>
          </a:solidFill>
          <a:ln>
            <a:solidFill>
              <a:srgbClr val="454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4544568"/>
            <a:ext cx="932688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2000"/>
              </a:lnSpc>
            </a:pPr>
            <a:r>
              <a:rPr sz="600" b="0">
                <a:solidFill>
                  <a:srgbClr val="C8893B"/>
                </a:solidFill>
                <a:latin typeface="Calibri"/>
              </a:rPr>
              <a:t>ARTIFACT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4690872"/>
            <a:ext cx="1060704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2000"/>
              </a:lnSpc>
            </a:pPr>
            <a:r>
              <a:rPr sz="700" b="0">
                <a:solidFill>
                  <a:srgbClr val="CBCCCF"/>
                </a:solidFill>
                <a:latin typeface="Calibri"/>
              </a:rPr>
              <a:t>operating-rules.md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20" y="4462272"/>
            <a:ext cx="1298448" cy="475488"/>
          </a:xfrm>
          <a:prstGeom prst="rect">
            <a:avLst/>
          </a:prstGeom>
          <a:solidFill>
            <a:srgbClr val="1F2937"/>
          </a:solidFill>
          <a:ln>
            <a:solidFill>
              <a:srgbClr val="454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56448" y="4544568"/>
            <a:ext cx="932688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2000"/>
              </a:lnSpc>
            </a:pPr>
            <a:r>
              <a:rPr sz="600" b="0">
                <a:solidFill>
                  <a:srgbClr val="C8893B"/>
                </a:solidFill>
                <a:latin typeface="Calibri"/>
              </a:rPr>
              <a:t>REVIEW GATE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56448" y="4690872"/>
            <a:ext cx="1060704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2000"/>
              </a:lnSpc>
            </a:pPr>
            <a:r>
              <a:rPr sz="700" b="0">
                <a:solidFill>
                  <a:srgbClr val="CBCCCF"/>
                </a:solidFill>
                <a:latin typeface="Calibri"/>
              </a:rPr>
              <a:t>Evidence check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28048" y="4462272"/>
            <a:ext cx="1298448" cy="475488"/>
          </a:xfrm>
          <a:prstGeom prst="rect">
            <a:avLst/>
          </a:prstGeom>
          <a:solidFill>
            <a:srgbClr val="1F2937"/>
          </a:solidFill>
          <a:ln>
            <a:solidFill>
              <a:srgbClr val="454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37776" y="4544568"/>
            <a:ext cx="932688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2000"/>
              </a:lnSpc>
            </a:pPr>
            <a:r>
              <a:rPr sz="600" b="0">
                <a:solidFill>
                  <a:srgbClr val="C8893B"/>
                </a:solidFill>
                <a:latin typeface="Calibri"/>
              </a:rPr>
              <a:t>UPDATE TRIGGER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37776" y="4690872"/>
            <a:ext cx="1060704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2000"/>
              </a:lnSpc>
            </a:pPr>
            <a:r>
              <a:rPr sz="700" b="0">
                <a:solidFill>
                  <a:srgbClr val="CBCCCF"/>
                </a:solidFill>
                <a:latin typeface="Calibri"/>
              </a:rPr>
              <a:t>Material change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347472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2000"/>
              </a:lnSpc>
            </a:pPr>
            <a:r>
              <a:rPr sz="800" b="1">
                <a:solidFill>
                  <a:srgbClr val="C8893B"/>
                </a:solidFill>
                <a:latin typeface="Cambria"/>
              </a:rPr>
              <a:t>SECTION 03 / OPERATING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758952"/>
            <a:ext cx="987552" cy="41148"/>
          </a:xfrm>
          <a:prstGeom prst="rect">
            <a:avLst/>
          </a:prstGeom>
          <a:solidFill>
            <a:srgbClr val="C8893B"/>
          </a:solidFill>
          <a:ln>
            <a:solidFill>
              <a:srgbClr val="C88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932688"/>
            <a:ext cx="8046720" cy="9509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2000"/>
              </a:lnSpc>
            </a:pPr>
            <a:r>
              <a:rPr sz="2700" b="1">
                <a:solidFill>
                  <a:srgbClr val="FFFFFF"/>
                </a:solidFill>
                <a:latin typeface="Cambria"/>
              </a:rPr>
              <a:t>Direct synthetic benchmarks fail because they lack grounding in reality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55648"/>
            <a:ext cx="694944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2000"/>
              </a:lnSpc>
            </a:pPr>
            <a:r>
              <a:rPr sz="1000" b="0">
                <a:solidFill>
                  <a:srgbClr val="C2C5CD"/>
                </a:solidFill>
                <a:latin typeface="Calibri"/>
              </a:rPr>
              <a:t>Risks of Unvalidated Synthetic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420624"/>
            <a:ext cx="8686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808796"/>
                </a:solidFill>
                <a:latin typeface="Cambria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6355080"/>
            <a:ext cx="768096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2000"/>
              </a:lnSpc>
            </a:pPr>
            <a:r>
              <a:rPr sz="900" b="0">
                <a:solidFill>
                  <a:srgbClr val="AFB4BD"/>
                </a:solidFill>
                <a:latin typeface="Calibri"/>
              </a:rPr>
              <a:t>Source: Bootstrapping Benchmarks &gt; Why Not Simply Generate Synthetic Benchmarks?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355080"/>
            <a:ext cx="804672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2000"/>
              </a:lnSpc>
            </a:pPr>
            <a:r>
              <a:rPr sz="900" b="1">
                <a:solidFill>
                  <a:srgbClr val="AFB4BD"/>
                </a:solidFill>
                <a:latin typeface="Cambria"/>
              </a:rPr>
              <a:t>5/16</a:t>
            </a:r>
          </a:p>
        </p:txBody>
      </p:sp>
      <p:pic>
        <p:nvPicPr>
          <p:cNvPr id="10" name="Picture 9" descr="05-framework_cycle-direct-synthetic-benchmarks-fail-because-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609344"/>
            <a:ext cx="10515600" cy="44988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164592"/>
            <a:ext cx="4937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C8893B"/>
                </a:solidFill>
                <a:latin typeface="Calibri"/>
              </a:rPr>
              <a:t>SECTION 04 -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38383" y="146304"/>
            <a:ext cx="658368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D9DBE0"/>
                </a:solidFill>
                <a:latin typeface="Cambria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438912"/>
            <a:ext cx="11064240" cy="7863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4000"/>
              </a:lnSpc>
            </a:pPr>
            <a:r>
              <a:rPr sz="2400" b="1">
                <a:solidFill>
                  <a:srgbClr val="14213D"/>
                </a:solidFill>
                <a:latin typeface="Cambria"/>
              </a:rPr>
              <a:t>Implicit ground truth discovery turns existing evidence into benchmarks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400800"/>
            <a:ext cx="97840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4506A"/>
                </a:solidFill>
                <a:latin typeface="Calibri"/>
              </a:rPr>
              <a:t>Source: Bootstrapping Benchmarks &gt; The Case for Implicit Ground Truth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33888" y="6400800"/>
            <a:ext cx="8229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44506A"/>
                </a:solidFill>
                <a:latin typeface="Calibri"/>
              </a:rPr>
              <a:t>6/16</a:t>
            </a:r>
          </a:p>
        </p:txBody>
      </p:sp>
      <p:pic>
        <p:nvPicPr>
          <p:cNvPr id="7" name="Picture 6" descr="06-dependency_map-implicit-ground-truth-discovery-turns-ex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261872"/>
            <a:ext cx="10744200" cy="46177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164592"/>
            <a:ext cx="4937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C8893B"/>
                </a:solidFill>
                <a:latin typeface="Calibri"/>
              </a:rPr>
              <a:t>SECTION 05 - OPERATING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38383" y="146304"/>
            <a:ext cx="658368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D9DBE0"/>
                </a:solidFill>
                <a:latin typeface="Cambria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438912"/>
            <a:ext cx="1106424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4000"/>
              </a:lnSpc>
            </a:pPr>
            <a:r>
              <a:rPr sz="2400" b="1">
                <a:solidFill>
                  <a:srgbClr val="14213D"/>
                </a:solidFill>
                <a:latin typeface="Cambria"/>
              </a:rPr>
              <a:t>Five harness layers connect contracts, data, execution, and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04672"/>
            <a:ext cx="9692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44506A"/>
                </a:solidFill>
                <a:latin typeface="Calibri"/>
              </a:rPr>
              <a:t>Framework Architecture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00800"/>
            <a:ext cx="97840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4506A"/>
                </a:solidFill>
                <a:latin typeface="Calibri"/>
              </a:rPr>
              <a:t>Source: Bootstrapping Benchmarks &gt; Architecture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33888" y="6400800"/>
            <a:ext cx="8229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44506A"/>
                </a:solidFill>
                <a:latin typeface="Calibri"/>
              </a:rPr>
              <a:t>7/16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371600"/>
            <a:ext cx="2487168" cy="4407408"/>
          </a:xfrm>
          <a:prstGeom prst="rect">
            <a:avLst/>
          </a:prstGeom>
          <a:solidFill>
            <a:srgbClr val="14213D"/>
          </a:solidFill>
          <a:ln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700784"/>
            <a:ext cx="164592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2000"/>
              </a:lnSpc>
            </a:pPr>
            <a:r>
              <a:rPr sz="1000" b="0">
                <a:solidFill>
                  <a:srgbClr val="C8893B"/>
                </a:solidFill>
                <a:latin typeface="Calibri"/>
              </a:rPr>
              <a:t>COMPARISON LENS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212848"/>
            <a:ext cx="173736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2000"/>
              </a:lnSpc>
            </a:pPr>
            <a:r>
              <a:rPr sz="2200" b="1">
                <a:solidFill>
                  <a:srgbClr val="FFFFFF"/>
                </a:solidFill>
                <a:latin typeface="Cambria"/>
              </a:rPr>
              <a:t>4 shifts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907792"/>
            <a:ext cx="1828800" cy="104241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2000"/>
              </a:lnSpc>
            </a:pPr>
            <a:r>
              <a:rPr sz="1100" b="0">
                <a:solidFill>
                  <a:srgbClr val="C7CAD0"/>
                </a:solidFill>
                <a:latin typeface="Calibri"/>
              </a:rPr>
              <a:t>Make the target model concrete by pairing each current behavior with the operating change.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773168"/>
            <a:ext cx="1874519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2000"/>
              </a:lnSpc>
            </a:pPr>
            <a:r>
              <a:rPr sz="900" b="0">
                <a:solidFill>
                  <a:srgbClr val="B4B8C1"/>
                </a:solidFill>
                <a:latin typeface="Calibri"/>
              </a:rPr>
              <a:t>Read left to right: what changes, what improves, and where the target model tightens control.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408176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4213D"/>
                </a:solidFill>
                <a:latin typeface="Calibri"/>
              </a:rPr>
              <a:t>CURRENT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28431" y="1408176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4213D"/>
                </a:solidFill>
                <a:latin typeface="Calibri"/>
              </a:rPr>
              <a:t>TARGET STATE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84448" y="1847088"/>
            <a:ext cx="713232" cy="658368"/>
          </a:xfrm>
          <a:prstGeom prst="rect">
            <a:avLst/>
          </a:prstGeom>
          <a:solidFill>
            <a:srgbClr val="D9DBE0"/>
          </a:solidFill>
          <a:ln>
            <a:solidFill>
              <a:srgbClr val="AFB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5887" y="2011680"/>
            <a:ext cx="512064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</a:pPr>
            <a:r>
              <a:rPr sz="800">
                <a:solidFill>
                  <a:srgbClr val="14213D"/>
                </a:solidFill>
                <a:latin typeface="Calibri"/>
              </a:rPr>
              <a:t>The framework consists of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98848" y="1847088"/>
            <a:ext cx="25146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A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18304" y="2002536"/>
            <a:ext cx="2048256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</a:pPr>
            <a:r>
              <a:rPr sz="1000">
                <a:solidFill>
                  <a:srgbClr val="14213D"/>
                </a:solidFill>
                <a:latin typeface="Calibri"/>
              </a:rPr>
              <a:t>The framework consists of five primary layers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87184" y="2176272"/>
            <a:ext cx="512064" cy="0"/>
          </a:xfrm>
          <a:prstGeom prst="line">
            <a:avLst/>
          </a:prstGeom>
          <a:ln w="20320">
            <a:solidFill>
              <a:srgbClr val="C88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5400000">
            <a:off x="7626096" y="2103120"/>
            <a:ext cx="146304" cy="146304"/>
          </a:xfrm>
          <a:prstGeom prst="triangle">
            <a:avLst/>
          </a:prstGeom>
          <a:solidFill>
            <a:srgbClr val="C8893B"/>
          </a:solidFill>
          <a:ln>
            <a:solidFill>
              <a:srgbClr val="C88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82127" y="1847088"/>
            <a:ext cx="3310128" cy="658368"/>
          </a:xfrm>
          <a:prstGeom prst="rect">
            <a:avLst/>
          </a:prstGeom>
          <a:solidFill>
            <a:srgbClr val="F4F6F8"/>
          </a:solidFill>
          <a:ln>
            <a:solidFill>
              <a:srgbClr val="EA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19872" y="2002536"/>
            <a:ext cx="2761488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</a:pPr>
            <a:r>
              <a:rPr sz="1000">
                <a:solidFill>
                  <a:srgbClr val="14213D"/>
                </a:solidFill>
                <a:latin typeface="Calibri"/>
              </a:rPr>
              <a:t>Convert the framework consists of five primary layers that work into an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84448" y="2706624"/>
            <a:ext cx="713232" cy="658368"/>
          </a:xfrm>
          <a:prstGeom prst="rect">
            <a:avLst/>
          </a:prstGeom>
          <a:solidFill>
            <a:srgbClr val="E1E3E7"/>
          </a:solidFill>
          <a:ln>
            <a:solidFill>
              <a:srgbClr val="BF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7" y="2871216"/>
            <a:ext cx="512064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</a:pPr>
            <a:r>
              <a:rPr sz="800">
                <a:solidFill>
                  <a:srgbClr val="14213D"/>
                </a:solidFill>
                <a:latin typeface="Calibri"/>
              </a:rPr>
              <a:t>Orchestration Layer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98848" y="2706624"/>
            <a:ext cx="25146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A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18304" y="2862072"/>
            <a:ext cx="2048256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</a:pPr>
            <a:r>
              <a:rPr sz="1000">
                <a:solidFill>
                  <a:srgbClr val="14213D"/>
                </a:solidFill>
                <a:latin typeface="Calibri"/>
              </a:rPr>
              <a:t>Orchestration Layer: Top-level agent that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187184" y="3035808"/>
            <a:ext cx="512064" cy="0"/>
          </a:xfrm>
          <a:prstGeom prst="line">
            <a:avLst/>
          </a:prstGeom>
          <a:ln w="20320">
            <a:solidFill>
              <a:srgbClr val="C88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Isosceles Triangle 27"/>
          <p:cNvSpPr/>
          <p:nvPr/>
        </p:nvSpPr>
        <p:spPr>
          <a:xfrm rot="5400000">
            <a:off x="7626096" y="2962656"/>
            <a:ext cx="146304" cy="146304"/>
          </a:xfrm>
          <a:prstGeom prst="triangle">
            <a:avLst/>
          </a:prstGeom>
          <a:solidFill>
            <a:srgbClr val="C8893B"/>
          </a:solidFill>
          <a:ln>
            <a:solidFill>
              <a:srgbClr val="C88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82127" y="2706624"/>
            <a:ext cx="3310128" cy="658368"/>
          </a:xfrm>
          <a:prstGeom prst="rect">
            <a:avLst/>
          </a:prstGeom>
          <a:solidFill>
            <a:srgbClr val="F4F6F8"/>
          </a:solidFill>
          <a:ln>
            <a:solidFill>
              <a:srgbClr val="EA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19872" y="2862072"/>
            <a:ext cx="2761488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</a:pPr>
            <a:r>
              <a:rPr sz="1000">
                <a:solidFill>
                  <a:srgbClr val="14213D"/>
                </a:solidFill>
                <a:latin typeface="Calibri"/>
              </a:rPr>
              <a:t>Convert orchestration Layer: Top-level agent that reasons about which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84448" y="3566160"/>
            <a:ext cx="713232" cy="658368"/>
          </a:xfrm>
          <a:prstGeom prst="rect">
            <a:avLst/>
          </a:prstGeom>
          <a:solidFill>
            <a:srgbClr val="F6ECE0"/>
          </a:solidFill>
          <a:ln>
            <a:solidFill>
              <a:srgbClr val="ECD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75887" y="3730752"/>
            <a:ext cx="512064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</a:pPr>
            <a:r>
              <a:rPr sz="800">
                <a:solidFill>
                  <a:srgbClr val="14213D"/>
                </a:solidFill>
                <a:latin typeface="Calibri"/>
              </a:rPr>
              <a:t>Model Contract Registry 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98848" y="3566160"/>
            <a:ext cx="25146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A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18304" y="3721608"/>
            <a:ext cx="2048256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</a:pPr>
            <a:r>
              <a:rPr sz="1000">
                <a:solidFill>
                  <a:srgbClr val="14213D"/>
                </a:solidFill>
                <a:latin typeface="Calibri"/>
              </a:rPr>
              <a:t>Model Contract Registry: A repository of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187184" y="3895344"/>
            <a:ext cx="512064" cy="0"/>
          </a:xfrm>
          <a:prstGeom prst="line">
            <a:avLst/>
          </a:prstGeom>
          <a:ln w="20320">
            <a:solidFill>
              <a:srgbClr val="C88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Isosceles Triangle 35"/>
          <p:cNvSpPr/>
          <p:nvPr/>
        </p:nvSpPr>
        <p:spPr>
          <a:xfrm rot="5400000">
            <a:off x="7626096" y="3822191"/>
            <a:ext cx="146304" cy="146304"/>
          </a:xfrm>
          <a:prstGeom prst="triangle">
            <a:avLst/>
          </a:prstGeom>
          <a:solidFill>
            <a:srgbClr val="C8893B"/>
          </a:solidFill>
          <a:ln>
            <a:solidFill>
              <a:srgbClr val="C88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882127" y="3566160"/>
            <a:ext cx="3310128" cy="658368"/>
          </a:xfrm>
          <a:prstGeom prst="rect">
            <a:avLst/>
          </a:prstGeom>
          <a:solidFill>
            <a:srgbClr val="F4F6F8"/>
          </a:solidFill>
          <a:ln>
            <a:solidFill>
              <a:srgbClr val="EA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19872" y="3721608"/>
            <a:ext cx="2761488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</a:pPr>
            <a:r>
              <a:rPr sz="1000">
                <a:solidFill>
                  <a:srgbClr val="14213D"/>
                </a:solidFill>
                <a:latin typeface="Calibri"/>
              </a:rPr>
              <a:t>Convert model Contract Registry: A repository of model contracts that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84448" y="4425696"/>
            <a:ext cx="713232" cy="658368"/>
          </a:xfrm>
          <a:prstGeom prst="rect">
            <a:avLst/>
          </a:prstGeom>
          <a:solidFill>
            <a:srgbClr val="D9DBE0"/>
          </a:solidFill>
          <a:ln>
            <a:solidFill>
              <a:srgbClr val="AFB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5887" y="4590288"/>
            <a:ext cx="512064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</a:pPr>
            <a:r>
              <a:rPr sz="800">
                <a:solidFill>
                  <a:srgbClr val="14213D"/>
                </a:solidFill>
                <a:latin typeface="Calibri"/>
              </a:rPr>
              <a:t>Unknown models have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98848" y="4425696"/>
            <a:ext cx="25146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A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18304" y="4581144"/>
            <a:ext cx="2048256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</a:pPr>
            <a:r>
              <a:rPr sz="1000">
                <a:solidFill>
                  <a:srgbClr val="14213D"/>
                </a:solidFill>
                <a:latin typeface="Calibri"/>
              </a:rPr>
              <a:t>Unknown models have contracts inferred by the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187184" y="4754880"/>
            <a:ext cx="512064" cy="0"/>
          </a:xfrm>
          <a:prstGeom prst="line">
            <a:avLst/>
          </a:prstGeom>
          <a:ln w="20320">
            <a:solidFill>
              <a:srgbClr val="C88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Isosceles Triangle 43"/>
          <p:cNvSpPr/>
          <p:nvPr/>
        </p:nvSpPr>
        <p:spPr>
          <a:xfrm rot="5400000">
            <a:off x="7626096" y="4681728"/>
            <a:ext cx="146304" cy="146304"/>
          </a:xfrm>
          <a:prstGeom prst="triangle">
            <a:avLst/>
          </a:prstGeom>
          <a:solidFill>
            <a:srgbClr val="C8893B"/>
          </a:solidFill>
          <a:ln>
            <a:solidFill>
              <a:srgbClr val="C88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882127" y="4425696"/>
            <a:ext cx="3310128" cy="658368"/>
          </a:xfrm>
          <a:prstGeom prst="rect">
            <a:avLst/>
          </a:prstGeom>
          <a:solidFill>
            <a:srgbClr val="F4F6F8"/>
          </a:solidFill>
          <a:ln>
            <a:solidFill>
              <a:srgbClr val="EA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19872" y="4581144"/>
            <a:ext cx="2761488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</a:pPr>
            <a:r>
              <a:rPr sz="1000">
                <a:solidFill>
                  <a:srgbClr val="14213D"/>
                </a:solidFill>
                <a:latin typeface="Calibri"/>
              </a:rPr>
              <a:t>Convert unknown models have contracts inferred by the agent into an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98848" y="5486400"/>
            <a:ext cx="6693408" cy="384048"/>
          </a:xfrm>
          <a:prstGeom prst="rect">
            <a:avLst/>
          </a:prstGeom>
          <a:solidFill>
            <a:srgbClr val="F8F1E7"/>
          </a:solidFill>
          <a:ln>
            <a:solidFill>
              <a:srgbClr val="F1E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36592" y="5577840"/>
            <a:ext cx="11887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</a:pPr>
            <a:r>
              <a:rPr sz="800">
                <a:solidFill>
                  <a:srgbClr val="14213D"/>
                </a:solidFill>
                <a:latin typeface="Calibri"/>
              </a:rPr>
              <a:t>TARGET TEST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25312" y="5559552"/>
            <a:ext cx="4535424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</a:pPr>
            <a:r>
              <a:rPr sz="900">
                <a:solidFill>
                  <a:srgbClr val="14213D"/>
                </a:solidFill>
                <a:latin typeface="Calibri"/>
              </a:rPr>
              <a:t>Every row should make the behavior change explicit enough to inspect or assign.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164592"/>
            <a:ext cx="4937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C8893B"/>
                </a:solidFill>
                <a:latin typeface="Calibri"/>
              </a:rPr>
              <a:t>SECTION 06 -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38383" y="146304"/>
            <a:ext cx="658368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D9DBE0"/>
                </a:solidFill>
                <a:latin typeface="Cambria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438912"/>
            <a:ext cx="11064240" cy="7863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4000"/>
              </a:lnSpc>
            </a:pPr>
            <a:r>
              <a:rPr sz="2400" b="1">
                <a:solidFill>
                  <a:srgbClr val="14213D"/>
                </a:solidFill>
                <a:latin typeface="Cambria"/>
              </a:rPr>
              <a:t>Bootstrapping strategies leverage extractive generation from documents to create provably answerable test pairs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400800"/>
            <a:ext cx="97840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4506A"/>
                </a:solidFill>
                <a:latin typeface="Calibri"/>
              </a:rPr>
              <a:t>Source: Bootstrapping Benchmarks &gt; Bootstrapping Strategies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33888" y="6400800"/>
            <a:ext cx="8229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44506A"/>
                </a:solidFill>
                <a:latin typeface="Calibri"/>
              </a:rPr>
              <a:t>8/16</a:t>
            </a:r>
          </a:p>
        </p:txBody>
      </p:sp>
      <p:sp>
        <p:nvSpPr>
          <p:cNvPr id="7" name="Oval 6"/>
          <p:cNvSpPr/>
          <p:nvPr/>
        </p:nvSpPr>
        <p:spPr>
          <a:xfrm>
            <a:off x="896112" y="1371600"/>
            <a:ext cx="347472" cy="347472"/>
          </a:xfrm>
          <a:prstGeom prst="ellipse">
            <a:avLst/>
          </a:prstGeom>
          <a:solidFill>
            <a:srgbClr val="14213D"/>
          </a:solidFill>
          <a:ln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rm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752" y="1344168"/>
            <a:ext cx="5669280" cy="3931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14213D"/>
                </a:solidFill>
                <a:latin typeface="Calibri"/>
              </a:rPr>
              <a:t>Name the decision and success criteria (Sponsor / Now)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066543"/>
            <a:ext cx="347472" cy="347472"/>
          </a:xfrm>
          <a:prstGeom prst="ellipse">
            <a:avLst/>
          </a:prstGeom>
          <a:solidFill>
            <a:srgbClr val="44506A"/>
          </a:solidFill>
          <a:ln>
            <a:solidFill>
              <a:srgbClr val="44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rm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4752" y="2039112"/>
            <a:ext cx="5669280" cy="3931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14213D"/>
                </a:solidFill>
                <a:latin typeface="Calibri"/>
              </a:rPr>
              <a:t>Assign evidence and review owners (Lead / Next)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2761488"/>
            <a:ext cx="347472" cy="347472"/>
          </a:xfrm>
          <a:prstGeom prst="ellipse">
            <a:avLst/>
          </a:prstGeom>
          <a:solidFill>
            <a:srgbClr val="C8893B"/>
          </a:solidFill>
          <a:ln>
            <a:solidFill>
              <a:srgbClr val="C88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rmAutofit/>
          </a:bodyPr>
          <a:lstStyle/>
          <a:p>
            <a:pPr algn="l"/>
            <a:r>
              <a:rPr sz="800" b="1">
                <a:solidFill>
                  <a:srgbClr val="14213D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2734056"/>
            <a:ext cx="5669280" cy="3931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14213D"/>
                </a:solidFill>
                <a:latin typeface="Calibri"/>
              </a:rPr>
              <a:t>Pilot the operating loop on one workflow (Team / Pilot)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456432"/>
            <a:ext cx="347472" cy="347472"/>
          </a:xfrm>
          <a:prstGeom prst="ellipse">
            <a:avLst/>
          </a:prstGeom>
          <a:solidFill>
            <a:srgbClr val="14213D"/>
          </a:solidFill>
          <a:ln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rm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4752" y="3429000"/>
            <a:ext cx="5669280" cy="3931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14213D"/>
                </a:solidFill>
                <a:latin typeface="Calibri"/>
              </a:rPr>
              <a:t>Codify lessons before scaling (Owner / Scale)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26679" y="1481328"/>
            <a:ext cx="3246120" cy="3584448"/>
          </a:xfrm>
          <a:prstGeom prst="roundRect">
            <a:avLst/>
          </a:prstGeom>
          <a:solidFill>
            <a:srgbClr val="14213D"/>
          </a:solidFill>
          <a:ln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65008" y="1828800"/>
            <a:ext cx="265176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2000"/>
              </a:lnSpc>
            </a:pPr>
            <a:r>
              <a:rPr sz="1000" b="0">
                <a:solidFill>
                  <a:srgbClr val="C8893B"/>
                </a:solidFill>
                <a:latin typeface="Calibri"/>
              </a:rPr>
              <a:t>THE NEXT MOVE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65008" y="2304288"/>
            <a:ext cx="2560320" cy="1371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2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Bootstrapping Strategy: Extractive Ground Truth.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3296" y="4160520"/>
            <a:ext cx="256032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2000"/>
              </a:lnSpc>
            </a:pPr>
            <a:r>
              <a:rPr sz="900" b="0">
                <a:solidFill>
                  <a:srgbClr val="BDC1C9"/>
                </a:solidFill>
                <a:latin typeface="Calibri"/>
              </a:rPr>
              <a:t>Name the decision and success criteria.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164592"/>
            <a:ext cx="4937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C8893B"/>
                </a:solidFill>
                <a:latin typeface="Calibri"/>
              </a:rPr>
              <a:t>SECTION 07 -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38383" y="146304"/>
            <a:ext cx="658368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D9DBE0"/>
                </a:solidFill>
                <a:latin typeface="Cambria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438912"/>
            <a:ext cx="1106424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4000"/>
              </a:lnSpc>
            </a:pPr>
            <a:r>
              <a:rPr sz="2400" b="1">
                <a:solidFill>
                  <a:srgbClr val="14213D"/>
                </a:solidFill>
                <a:latin typeface="Cambria"/>
              </a:rPr>
              <a:t>Model contracts make evaluation expectations explicit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04672"/>
            <a:ext cx="9692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44506A"/>
                </a:solidFill>
                <a:latin typeface="Calibri"/>
              </a:rPr>
              <a:t>Model Contract Specification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00800"/>
            <a:ext cx="97840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4506A"/>
                </a:solidFill>
                <a:latin typeface="Calibri"/>
              </a:rPr>
              <a:t>Source: Bootstrapping Benchmarks &gt; The Model Contract; Bootstrapping Benchmarks &gt; The Questions the Model Contract Must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33888" y="6400800"/>
            <a:ext cx="8229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44506A"/>
                </a:solidFill>
                <a:latin typeface="Calibri"/>
              </a:rPr>
              <a:t>9/16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1828800"/>
            <a:ext cx="10241280" cy="2286000"/>
          </a:xfrm>
          <a:prstGeom prst="rect">
            <a:avLst/>
          </a:prstGeom>
          <a:solidFill>
            <a:srgbClr val="EAEEF5"/>
          </a:solidFill>
          <a:ln>
            <a:solidFill>
              <a:srgbClr val="44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3312" y="2212848"/>
            <a:ext cx="960120" cy="960120"/>
          </a:xfrm>
          <a:prstGeom prst="ellipse">
            <a:avLst/>
          </a:prstGeom>
          <a:solidFill>
            <a:srgbClr val="D9DBE0"/>
          </a:solidFill>
          <a:ln>
            <a:solidFill>
              <a:srgbClr val="A6A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30121" y="2289657"/>
            <a:ext cx="806500" cy="806500"/>
          </a:xfrm>
          <a:prstGeom prst="ellipse">
            <a:avLst/>
          </a:prstGeom>
          <a:solidFill>
            <a:srgbClr val="14213D"/>
          </a:solidFill>
          <a:ln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asitemap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6946" y="2486482"/>
            <a:ext cx="412851" cy="41285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542032" y="2468880"/>
            <a:ext cx="7726679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</a:pPr>
            <a:r>
              <a:rPr sz="1600">
                <a:solidFill>
                  <a:srgbClr val="14213D"/>
                </a:solidFill>
                <a:latin typeface="Calibri"/>
              </a:rPr>
              <a:t>Model Contract Specification Checklist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164592"/>
            <a:ext cx="4937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C8893B"/>
                </a:solidFill>
                <a:latin typeface="Calibri"/>
              </a:rPr>
              <a:t>SECTION 08 -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38383" y="146304"/>
            <a:ext cx="658368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D9DBE0"/>
                </a:solidFill>
                <a:latin typeface="Cambria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438912"/>
            <a:ext cx="1106424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4000"/>
              </a:lnSpc>
            </a:pPr>
            <a:r>
              <a:rPr sz="2400" b="1">
                <a:solidFill>
                  <a:srgbClr val="14213D"/>
                </a:solidFill>
                <a:latin typeface="Cambria"/>
              </a:rPr>
              <a:t>Six contract questions keep every benchmark operational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04672"/>
            <a:ext cx="9692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44506A"/>
                </a:solidFill>
                <a:latin typeface="Calibri"/>
              </a:rPr>
              <a:t>Strategic Focus: Semantic Definition of Success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00800"/>
            <a:ext cx="97840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4506A"/>
                </a:solidFill>
                <a:latin typeface="Calibri"/>
              </a:rPr>
              <a:t>Source: Bootstrapping Benchmarks &gt; The Questions the Model Contract Must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33888" y="6400800"/>
            <a:ext cx="8229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44506A"/>
                </a:solidFill>
                <a:latin typeface="Calibri"/>
              </a:rPr>
              <a:t>10/16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325880"/>
            <a:ext cx="10698480" cy="896112"/>
          </a:xfrm>
          <a:prstGeom prst="rect">
            <a:avLst/>
          </a:prstGeom>
          <a:solidFill>
            <a:srgbClr val="FFFFFF"/>
          </a:solidFill>
          <a:ln>
            <a:solidFill>
              <a:srgbClr val="EA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1435607"/>
            <a:ext cx="749808" cy="749808"/>
          </a:xfrm>
          <a:prstGeom prst="ellipse">
            <a:avLst/>
          </a:prstGeom>
          <a:solidFill>
            <a:srgbClr val="D9DBE0"/>
          </a:solidFill>
          <a:ln>
            <a:solidFill>
              <a:srgbClr val="A6A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264" y="1495592"/>
            <a:ext cx="629838" cy="629838"/>
          </a:xfrm>
          <a:prstGeom prst="ellipse">
            <a:avLst/>
          </a:prstGeom>
          <a:solidFill>
            <a:srgbClr val="14213D"/>
          </a:solidFill>
          <a:ln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asitemap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975" y="1649303"/>
            <a:ext cx="322417" cy="32241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048256" y="1554480"/>
            <a:ext cx="8732520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</a:pPr>
            <a:r>
              <a:rPr sz="1400">
                <a:solidFill>
                  <a:srgbClr val="14213D"/>
                </a:solidFill>
                <a:latin typeface="Calibri"/>
              </a:rPr>
              <a:t>A model contract addresses six basic questions.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468880"/>
            <a:ext cx="10698480" cy="896112"/>
          </a:xfrm>
          <a:prstGeom prst="rect">
            <a:avLst/>
          </a:prstGeom>
          <a:solidFill>
            <a:srgbClr val="FFFFFF"/>
          </a:solidFill>
          <a:ln>
            <a:solidFill>
              <a:srgbClr val="EA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97280" y="2578608"/>
            <a:ext cx="749808" cy="749808"/>
          </a:xfrm>
          <a:prstGeom prst="ellipse">
            <a:avLst/>
          </a:prstGeom>
          <a:solidFill>
            <a:srgbClr val="E1E3E7"/>
          </a:solidFill>
          <a:ln>
            <a:solidFill>
              <a:srgbClr val="B8B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57264" y="2638592"/>
            <a:ext cx="629838" cy="629838"/>
          </a:xfrm>
          <a:prstGeom prst="ellipse">
            <a:avLst/>
          </a:prstGeom>
          <a:solidFill>
            <a:srgbClr val="44506A"/>
          </a:solidFill>
          <a:ln>
            <a:solidFill>
              <a:srgbClr val="44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fasitemap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975" y="2792303"/>
            <a:ext cx="322417" cy="32241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048256" y="2697480"/>
            <a:ext cx="8732520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</a:pPr>
            <a:r>
              <a:rPr sz="1400">
                <a:solidFill>
                  <a:srgbClr val="14213D"/>
                </a:solidFill>
                <a:latin typeface="Calibri"/>
              </a:rPr>
              <a:t>These questions apply regardless of whether the model predicts protein binding, classifies documents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3611880"/>
            <a:ext cx="10698480" cy="896112"/>
          </a:xfrm>
          <a:prstGeom prst="rect">
            <a:avLst/>
          </a:prstGeom>
          <a:solidFill>
            <a:srgbClr val="FFFFFF"/>
          </a:solidFill>
          <a:ln>
            <a:solidFill>
              <a:srgbClr val="EA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97280" y="3721608"/>
            <a:ext cx="749808" cy="749808"/>
          </a:xfrm>
          <a:prstGeom prst="ellipse">
            <a:avLst/>
          </a:prstGeom>
          <a:solidFill>
            <a:srgbClr val="F6ECE0"/>
          </a:solidFill>
          <a:ln>
            <a:solidFill>
              <a:srgbClr val="EAD2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57264" y="3781592"/>
            <a:ext cx="629838" cy="629838"/>
          </a:xfrm>
          <a:prstGeom prst="ellipse">
            <a:avLst/>
          </a:prstGeom>
          <a:solidFill>
            <a:srgbClr val="C8893B"/>
          </a:solidFill>
          <a:ln>
            <a:solidFill>
              <a:srgbClr val="C88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fasitemap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975" y="3935303"/>
            <a:ext cx="322417" cy="32241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048256" y="3840480"/>
            <a:ext cx="8732520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</a:pPr>
            <a:r>
              <a:rPr sz="1400">
                <a:solidFill>
                  <a:srgbClr val="14213D"/>
                </a:solidFill>
                <a:latin typeface="Calibri"/>
              </a:rPr>
              <a:t>What goes in?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4754880"/>
            <a:ext cx="10698480" cy="896112"/>
          </a:xfrm>
          <a:prstGeom prst="rect">
            <a:avLst/>
          </a:prstGeom>
          <a:solidFill>
            <a:srgbClr val="FFFFFF"/>
          </a:solidFill>
          <a:ln>
            <a:solidFill>
              <a:srgbClr val="EA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97280" y="4864608"/>
            <a:ext cx="749808" cy="749808"/>
          </a:xfrm>
          <a:prstGeom prst="ellipse">
            <a:avLst/>
          </a:prstGeom>
          <a:solidFill>
            <a:srgbClr val="D9DBE0"/>
          </a:solidFill>
          <a:ln>
            <a:solidFill>
              <a:srgbClr val="A6A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57264" y="4924592"/>
            <a:ext cx="629838" cy="629838"/>
          </a:xfrm>
          <a:prstGeom prst="ellipse">
            <a:avLst/>
          </a:prstGeom>
          <a:solidFill>
            <a:srgbClr val="14213D"/>
          </a:solidFill>
          <a:ln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abookopen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0975" y="5078303"/>
            <a:ext cx="322417" cy="32241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048256" y="4983480"/>
            <a:ext cx="8732520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</a:pPr>
            <a:r>
              <a:rPr sz="1400">
                <a:solidFill>
                  <a:srgbClr val="14213D"/>
                </a:solidFill>
                <a:latin typeface="Calibri"/>
              </a:rPr>
              <a:t>The contract specifies not just the technical format of inputs but their semantic meaning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164592"/>
            <a:ext cx="4937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C8893B"/>
                </a:solidFill>
                <a:latin typeface="Calibri"/>
              </a:rPr>
              <a:t>SECTION 08 -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38383" y="146304"/>
            <a:ext cx="658368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D9DBE0"/>
                </a:solidFill>
                <a:latin typeface="Cambria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438912"/>
            <a:ext cx="1106424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4000"/>
              </a:lnSpc>
            </a:pPr>
            <a:r>
              <a:rPr sz="2400" b="1">
                <a:solidFill>
                  <a:srgbClr val="14213D"/>
                </a:solidFill>
                <a:latin typeface="Cambria"/>
              </a:rPr>
              <a:t>Harness interfaces standardize benchmark execution across domains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04672"/>
            <a:ext cx="9692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44506A"/>
                </a:solidFill>
                <a:latin typeface="Calibri"/>
              </a:rPr>
              <a:t>Contract vs. Harness: Declarative vs. Operational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00800"/>
            <a:ext cx="97840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4506A"/>
                </a:solidFill>
                <a:latin typeface="Calibri"/>
              </a:rPr>
              <a:t>Source: Bootstrapping Benchmarks &gt; The Harness Interface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33888" y="6400800"/>
            <a:ext cx="8229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44506A"/>
                </a:solidFill>
                <a:latin typeface="Calibri"/>
              </a:rPr>
              <a:t>11/16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1444752"/>
            <a:ext cx="5006340" cy="2080260"/>
          </a:xfrm>
          <a:prstGeom prst="rect">
            <a:avLst/>
          </a:prstGeom>
          <a:solidFill>
            <a:srgbClr val="F5EADC"/>
          </a:solidFill>
          <a:ln>
            <a:solidFill>
              <a:srgbClr val="EA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737360"/>
            <a:ext cx="45034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14213D"/>
                </a:solidFill>
                <a:latin typeface="Calibri"/>
              </a:rPr>
              <a:t>High impact / high readiness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31136"/>
            <a:ext cx="450342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</a:pPr>
            <a:r>
              <a:rPr sz="1000">
                <a:solidFill>
                  <a:srgbClr val="14213D"/>
                </a:solidFill>
                <a:latin typeface="Calibri"/>
              </a:rPr>
              <a:t>While the Model Contract declares what should be evaluated and how success 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47588" y="1444752"/>
            <a:ext cx="5006340" cy="2080260"/>
          </a:xfrm>
          <a:prstGeom prst="rect">
            <a:avLst/>
          </a:prstGeom>
          <a:solidFill>
            <a:srgbClr val="FFFFFF"/>
          </a:solidFill>
          <a:ln>
            <a:solidFill>
              <a:srgbClr val="EA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03620" y="1737360"/>
            <a:ext cx="45034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14213D"/>
                </a:solidFill>
                <a:latin typeface="Calibri"/>
              </a:rPr>
              <a:t>High impact / low readiness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03620" y="2231136"/>
            <a:ext cx="450342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</a:pPr>
            <a:r>
              <a:rPr sz="1000">
                <a:solidFill>
                  <a:srgbClr val="14213D"/>
                </a:solidFill>
                <a:latin typeface="Calibri"/>
              </a:rPr>
              <a:t>It's the operational counterpart to the Contract's declarative specification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" y="3525012"/>
            <a:ext cx="5006340" cy="2080260"/>
          </a:xfrm>
          <a:prstGeom prst="rect">
            <a:avLst/>
          </a:prstGeom>
          <a:solidFill>
            <a:srgbClr val="FFFFFF"/>
          </a:solidFill>
          <a:ln>
            <a:solidFill>
              <a:srgbClr val="EA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817620"/>
            <a:ext cx="45034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14213D"/>
                </a:solidFill>
                <a:latin typeface="Calibri"/>
              </a:rPr>
              <a:t>Low impact / high readiness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311396"/>
            <a:ext cx="450342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</a:pPr>
            <a:r>
              <a:rPr sz="1000">
                <a:solidFill>
                  <a:srgbClr val="14213D"/>
                </a:solidFill>
                <a:latin typeface="Calibri"/>
              </a:rPr>
              <a:t>The Harness Interface standardizes the benchmark lifecycle, ensuring that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47588" y="3525012"/>
            <a:ext cx="5006340" cy="2080260"/>
          </a:xfrm>
          <a:prstGeom prst="rect">
            <a:avLst/>
          </a:prstGeom>
          <a:solidFill>
            <a:srgbClr val="E5E6EA"/>
          </a:solidFill>
          <a:ln>
            <a:solidFill>
              <a:srgbClr val="EA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03620" y="3817620"/>
            <a:ext cx="45034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14213D"/>
                </a:solidFill>
                <a:latin typeface="Calibri"/>
              </a:rPr>
              <a:t>Low impact / low readiness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03620" y="4311396"/>
            <a:ext cx="450342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</a:pPr>
            <a:r>
              <a:rPr sz="1000">
                <a:solidFill>
                  <a:srgbClr val="14213D"/>
                </a:solidFill>
                <a:latin typeface="Calibri"/>
              </a:rPr>
              <a:t>As such the Harness Interface exists in a defined lifecycle with the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1152144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4213D"/>
                </a:solidFill>
                <a:latin typeface="Calibri"/>
              </a:rPr>
              <a:t>Impact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574243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4213D"/>
                </a:solidFill>
                <a:latin typeface="Calibri"/>
              </a:rPr>
              <a:t>Readiness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164592"/>
            <a:ext cx="4937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C8893B"/>
                </a:solidFill>
                <a:latin typeface="Calibri"/>
              </a:rPr>
              <a:t>SECTION 09 - REFERENCE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38383" y="146304"/>
            <a:ext cx="658368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D9DBE0"/>
                </a:solidFill>
                <a:latin typeface="Cambria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438912"/>
            <a:ext cx="1106424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4000"/>
              </a:lnSpc>
            </a:pPr>
            <a:r>
              <a:rPr sz="2400" b="1">
                <a:solidFill>
                  <a:srgbClr val="14213D"/>
                </a:solidFill>
                <a:latin typeface="Cambria"/>
              </a:rPr>
              <a:t>Implicit ground truth discovery makes benchmark creation scalable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04672"/>
            <a:ext cx="9692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44506A"/>
                </a:solidFill>
                <a:latin typeface="Calibri"/>
              </a:rPr>
              <a:t>Operating Rules for Agent-Assisted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00800"/>
            <a:ext cx="97840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4506A"/>
                </a:solidFill>
                <a:latin typeface="Calibri"/>
              </a:rPr>
              <a:t>Source: Bootstrapping Benchmarks &gt; Conclusion and Future Directions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33888" y="6400800"/>
            <a:ext cx="8229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44506A"/>
                </a:solidFill>
                <a:latin typeface="Calibri"/>
              </a:rPr>
              <a:t>12/16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417320"/>
            <a:ext cx="4800600" cy="1691640"/>
          </a:xfrm>
          <a:prstGeom prst="rect">
            <a:avLst/>
          </a:prstGeom>
          <a:solidFill>
            <a:srgbClr val="FFFFFF"/>
          </a:solidFill>
          <a:ln>
            <a:solidFill>
              <a:srgbClr val="EA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8992" y="1645920"/>
            <a:ext cx="786384" cy="786384"/>
          </a:xfrm>
          <a:prstGeom prst="ellipse">
            <a:avLst/>
          </a:prstGeom>
          <a:solidFill>
            <a:srgbClr val="D9DBE0"/>
          </a:solidFill>
          <a:ln>
            <a:solidFill>
              <a:srgbClr val="A6A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1902" y="1708830"/>
            <a:ext cx="660562" cy="660562"/>
          </a:xfrm>
          <a:prstGeom prst="ellipse">
            <a:avLst/>
          </a:prstGeom>
          <a:solidFill>
            <a:srgbClr val="14213D"/>
          </a:solidFill>
          <a:ln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asitemap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111" y="1870039"/>
            <a:ext cx="338145" cy="33814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048256" y="1746504"/>
            <a:ext cx="3218688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</a:pPr>
            <a:r>
              <a:rPr sz="1300">
                <a:solidFill>
                  <a:srgbClr val="14213D"/>
                </a:solidFill>
                <a:latin typeface="Calibri"/>
              </a:rPr>
              <a:t>Frame the request with an explicit outcome.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417320"/>
            <a:ext cx="4800600" cy="1691640"/>
          </a:xfrm>
          <a:prstGeom prst="rect">
            <a:avLst/>
          </a:prstGeom>
          <a:solidFill>
            <a:srgbClr val="FFFFFF"/>
          </a:solidFill>
          <a:ln>
            <a:solidFill>
              <a:srgbClr val="EA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65392" y="1645920"/>
            <a:ext cx="786384" cy="786384"/>
          </a:xfrm>
          <a:prstGeom prst="ellipse">
            <a:avLst/>
          </a:prstGeom>
          <a:solidFill>
            <a:srgbClr val="E1E3E7"/>
          </a:solidFill>
          <a:ln>
            <a:solidFill>
              <a:srgbClr val="B8B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628302" y="1708830"/>
            <a:ext cx="660562" cy="660562"/>
          </a:xfrm>
          <a:prstGeom prst="ellipse">
            <a:avLst/>
          </a:prstGeom>
          <a:solidFill>
            <a:srgbClr val="44506A"/>
          </a:solidFill>
          <a:ln>
            <a:solidFill>
              <a:srgbClr val="44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fasitemap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9511" y="1870039"/>
            <a:ext cx="338145" cy="33814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534656" y="1746504"/>
            <a:ext cx="3218688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</a:pPr>
            <a:r>
              <a:rPr sz="1300">
                <a:solidFill>
                  <a:srgbClr val="14213D"/>
                </a:solidFill>
                <a:latin typeface="Calibri"/>
              </a:rPr>
              <a:t>Prime the agent with memory and constraints.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3474720"/>
            <a:ext cx="4800600" cy="1691640"/>
          </a:xfrm>
          <a:prstGeom prst="rect">
            <a:avLst/>
          </a:prstGeom>
          <a:solidFill>
            <a:srgbClr val="FFFFFF"/>
          </a:solidFill>
          <a:ln>
            <a:solidFill>
              <a:srgbClr val="EA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78992" y="3703320"/>
            <a:ext cx="786384" cy="786384"/>
          </a:xfrm>
          <a:prstGeom prst="ellipse">
            <a:avLst/>
          </a:prstGeom>
          <a:solidFill>
            <a:srgbClr val="F6ECE0"/>
          </a:solidFill>
          <a:ln>
            <a:solidFill>
              <a:srgbClr val="EAD2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1902" y="3766230"/>
            <a:ext cx="660562" cy="660562"/>
          </a:xfrm>
          <a:prstGeom prst="ellipse">
            <a:avLst/>
          </a:prstGeom>
          <a:solidFill>
            <a:srgbClr val="C8893B"/>
          </a:solidFill>
          <a:ln>
            <a:solidFill>
              <a:srgbClr val="C88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fabookopen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111" y="3927439"/>
            <a:ext cx="338145" cy="33814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048256" y="3803904"/>
            <a:ext cx="3218688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</a:pPr>
            <a:r>
              <a:rPr sz="1300">
                <a:solidFill>
                  <a:srgbClr val="14213D"/>
                </a:solidFill>
                <a:latin typeface="Calibri"/>
              </a:rPr>
              <a:t>Generate bounded changes from the spec.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3474720"/>
            <a:ext cx="4800600" cy="1691640"/>
          </a:xfrm>
          <a:prstGeom prst="rect">
            <a:avLst/>
          </a:prstGeom>
          <a:solidFill>
            <a:srgbClr val="FFFFFF"/>
          </a:solidFill>
          <a:ln>
            <a:solidFill>
              <a:srgbClr val="EA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65392" y="3703320"/>
            <a:ext cx="786384" cy="786384"/>
          </a:xfrm>
          <a:prstGeom prst="ellipse">
            <a:avLst/>
          </a:prstGeom>
          <a:solidFill>
            <a:srgbClr val="D9DBE0"/>
          </a:solidFill>
          <a:ln>
            <a:solidFill>
              <a:srgbClr val="A6A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628302" y="3766230"/>
            <a:ext cx="660562" cy="660562"/>
          </a:xfrm>
          <a:prstGeom prst="ellipse">
            <a:avLst/>
          </a:prstGeom>
          <a:solidFill>
            <a:srgbClr val="14213D"/>
          </a:solidFill>
          <a:ln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aclipboardcheck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9511" y="3927439"/>
            <a:ext cx="338145" cy="33814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534656" y="3803904"/>
            <a:ext cx="3218688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</a:pPr>
            <a:r>
              <a:rPr sz="1300">
                <a:solidFill>
                  <a:srgbClr val="14213D"/>
                </a:solidFill>
                <a:latin typeface="Calibri"/>
              </a:rPr>
              <a:t>Review output before updating memory.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164592"/>
            <a:ext cx="4937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C8893B"/>
                </a:solidFill>
                <a:latin typeface="Calibri"/>
              </a:rPr>
              <a:t>SECTION 10 -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38383" y="146304"/>
            <a:ext cx="658368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D9DBE0"/>
                </a:solidFill>
                <a:latin typeface="Cambria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438912"/>
            <a:ext cx="1106424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4000"/>
              </a:lnSpc>
            </a:pPr>
            <a:r>
              <a:rPr sz="2400" b="1">
                <a:solidFill>
                  <a:srgbClr val="14213D"/>
                </a:solidFill>
                <a:latin typeface="Cambria"/>
              </a:rPr>
              <a:t>Enterprise data catalogs make benchmark discovery scalable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04672"/>
            <a:ext cx="9692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44506A"/>
                </a:solidFill>
                <a:latin typeface="Calibri"/>
              </a:rPr>
              <a:t>Critical Future Work Areas for Scalability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00800"/>
            <a:ext cx="97840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4506A"/>
                </a:solidFill>
                <a:latin typeface="Calibri"/>
              </a:rPr>
              <a:t>Source: Bootstrapping Benchmarks &gt; Future Directions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33888" y="6400800"/>
            <a:ext cx="8229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44506A"/>
                </a:solidFill>
                <a:latin typeface="Calibri"/>
              </a:rPr>
              <a:t>13/16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417320"/>
            <a:ext cx="5257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EA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417320"/>
            <a:ext cx="5257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EA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24128" y="1591056"/>
            <a:ext cx="713232" cy="713232"/>
          </a:xfrm>
          <a:prstGeom prst="ellipse">
            <a:avLst/>
          </a:prstGeom>
          <a:solidFill>
            <a:srgbClr val="D9DBE0"/>
          </a:solidFill>
          <a:ln>
            <a:solidFill>
              <a:srgbClr val="A6A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81186" y="1648114"/>
            <a:ext cx="599114" cy="599114"/>
          </a:xfrm>
          <a:prstGeom prst="ellipse">
            <a:avLst/>
          </a:prstGeom>
          <a:solidFill>
            <a:srgbClr val="14213D"/>
          </a:solidFill>
          <a:ln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fasitemap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7399" y="1794327"/>
            <a:ext cx="306689" cy="30668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83664" y="178308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4213D"/>
                </a:solidFill>
                <a:latin typeface="Calibri"/>
              </a:rPr>
              <a:t>Implication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304288"/>
            <a:ext cx="4526280" cy="2578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300">
                <a:solidFill>
                  <a:srgbClr val="14213D"/>
                </a:solidFill>
                <a:latin typeface="Calibri"/>
              </a:defRPr>
            </a:pPr>
            <a:r>
              <a:t>• Several areas warrant further development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300">
                <a:solidFill>
                  <a:srgbClr val="14213D"/>
                </a:solidFill>
                <a:latin typeface="Calibri"/>
              </a:defRPr>
            </a:pPr>
            <a:r>
              <a:t>• Data Catalog Integration.</a:t>
            </a:r>
          </a:p>
        </p:txBody>
      </p:sp>
      <p:sp>
        <p:nvSpPr>
          <p:cNvPr id="15" name="Oval 14"/>
          <p:cNvSpPr/>
          <p:nvPr/>
        </p:nvSpPr>
        <p:spPr>
          <a:xfrm>
            <a:off x="6556248" y="1591056"/>
            <a:ext cx="713232" cy="713232"/>
          </a:xfrm>
          <a:prstGeom prst="ellipse">
            <a:avLst/>
          </a:prstGeom>
          <a:solidFill>
            <a:srgbClr val="E1E3E7"/>
          </a:solidFill>
          <a:ln>
            <a:solidFill>
              <a:srgbClr val="B8B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13306" y="1648114"/>
            <a:ext cx="599114" cy="599114"/>
          </a:xfrm>
          <a:prstGeom prst="ellipse">
            <a:avLst/>
          </a:prstGeom>
          <a:solidFill>
            <a:srgbClr val="44506A"/>
          </a:solidFill>
          <a:ln>
            <a:solidFill>
              <a:srgbClr val="44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fabookopen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19" y="1794327"/>
            <a:ext cx="306689" cy="30668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415783" y="178308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4213D"/>
                </a:solidFill>
                <a:latin typeface="Calibri"/>
              </a:rPr>
              <a:t>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304288"/>
            <a:ext cx="4526280" cy="2578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300">
                <a:solidFill>
                  <a:srgbClr val="14213D"/>
                </a:solidFill>
                <a:latin typeface="Calibri"/>
              </a:defRPr>
            </a:pPr>
            <a:r>
              <a:t>• Production deployment requires robust interfaces to diverse enterprise data sources.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300">
                <a:solidFill>
                  <a:srgbClr val="14213D"/>
                </a:solidFill>
                <a:latin typeface="Calibri"/>
              </a:defRPr>
            </a:pPr>
            <a:r>
              <a:t>• Future work should address automated schema discovery, metadata extraction, and integration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164592"/>
            <a:ext cx="4937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C8893B"/>
                </a:solidFill>
                <a:latin typeface="Calibri"/>
              </a:rPr>
              <a:t>SECTION 11 -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38383" y="146304"/>
            <a:ext cx="658368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D9DBE0"/>
                </a:solidFill>
                <a:latin typeface="Cambria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438912"/>
            <a:ext cx="11064240" cy="7863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4000"/>
              </a:lnSpc>
            </a:pPr>
            <a:r>
              <a:rPr sz="2400" b="1">
                <a:solidFill>
                  <a:srgbClr val="14213D"/>
                </a:solidFill>
                <a:latin typeface="Cambria"/>
              </a:rPr>
              <a:t>Organizations must focus human judgment on defining success rather than manual data labeling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400800"/>
            <a:ext cx="97840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4506A"/>
                </a:solidFill>
                <a:latin typeface="Calibri"/>
              </a:rPr>
              <a:t>Source: Bootstrapping Benchmarks &gt; Closing Remarks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33888" y="6400800"/>
            <a:ext cx="8229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44506A"/>
                </a:solidFill>
                <a:latin typeface="Calibri"/>
              </a:rPr>
              <a:t>14/16</a:t>
            </a:r>
          </a:p>
        </p:txBody>
      </p:sp>
      <p:sp>
        <p:nvSpPr>
          <p:cNvPr id="7" name="Oval 6"/>
          <p:cNvSpPr/>
          <p:nvPr/>
        </p:nvSpPr>
        <p:spPr>
          <a:xfrm>
            <a:off x="896112" y="1371600"/>
            <a:ext cx="347472" cy="347472"/>
          </a:xfrm>
          <a:prstGeom prst="ellipse">
            <a:avLst/>
          </a:prstGeom>
          <a:solidFill>
            <a:srgbClr val="14213D"/>
          </a:solidFill>
          <a:ln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rm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752" y="1344168"/>
            <a:ext cx="5669280" cy="3931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14213D"/>
                </a:solidFill>
                <a:latin typeface="Calibri"/>
              </a:rPr>
              <a:t>The proliferation of AI models across enterprise applications has outpaced the development of (Owner / Next)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066543"/>
            <a:ext cx="347472" cy="347472"/>
          </a:xfrm>
          <a:prstGeom prst="ellipse">
            <a:avLst/>
          </a:prstGeom>
          <a:solidFill>
            <a:srgbClr val="44506A"/>
          </a:solidFill>
          <a:ln>
            <a:solidFill>
              <a:srgbClr val="44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rm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4752" y="2039112"/>
            <a:ext cx="5669280" cy="3931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14213D"/>
                </a:solidFill>
                <a:latin typeface="Calibri"/>
              </a:rPr>
              <a:t>Organizations deploying models for consequential decisions need benchmarks that reflect their (Owner / Next)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2761488"/>
            <a:ext cx="347472" cy="347472"/>
          </a:xfrm>
          <a:prstGeom prst="ellipse">
            <a:avLst/>
          </a:prstGeom>
          <a:solidFill>
            <a:srgbClr val="C8893B"/>
          </a:solidFill>
          <a:ln>
            <a:solidFill>
              <a:srgbClr val="C88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rmAutofit/>
          </a:bodyPr>
          <a:lstStyle/>
          <a:p>
            <a:pPr algn="l"/>
            <a:r>
              <a:rPr sz="800" b="1">
                <a:solidFill>
                  <a:srgbClr val="14213D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2734056"/>
            <a:ext cx="5669280" cy="3931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14213D"/>
                </a:solidFill>
                <a:latin typeface="Calibri"/>
              </a:rPr>
              <a:t>By shifting from manual benchmark creation to systematic discovery of implicit ground truth (Owner / Next)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456432"/>
            <a:ext cx="347472" cy="347472"/>
          </a:xfrm>
          <a:prstGeom prst="ellipse">
            <a:avLst/>
          </a:prstGeom>
          <a:solidFill>
            <a:srgbClr val="14213D"/>
          </a:solidFill>
          <a:ln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rm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4752" y="3429000"/>
            <a:ext cx="5669280" cy="3931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14213D"/>
                </a:solidFill>
                <a:latin typeface="Calibri"/>
              </a:rPr>
              <a:t>The framework presented here provides conceptual foundations and architectural patterns for (Owner / Next)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151376"/>
            <a:ext cx="347472" cy="347472"/>
          </a:xfrm>
          <a:prstGeom prst="ellipse">
            <a:avLst/>
          </a:prstGeom>
          <a:solidFill>
            <a:srgbClr val="44506A"/>
          </a:solidFill>
          <a:ln>
            <a:solidFill>
              <a:srgbClr val="44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rm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4752" y="4123944"/>
            <a:ext cx="5669280" cy="3931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14213D"/>
                </a:solidFill>
                <a:latin typeface="Calibri"/>
              </a:rPr>
              <a:t>Realizing its full potential will require continued development, organizational adoption, and (Owner / Next)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6679" y="1481328"/>
            <a:ext cx="3246120" cy="3584448"/>
          </a:xfrm>
          <a:prstGeom prst="roundRect">
            <a:avLst/>
          </a:prstGeom>
          <a:solidFill>
            <a:srgbClr val="14213D"/>
          </a:solidFill>
          <a:ln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65008" y="1828800"/>
            <a:ext cx="265176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2000"/>
              </a:lnSpc>
            </a:pPr>
            <a:r>
              <a:rPr sz="1000" b="0">
                <a:solidFill>
                  <a:srgbClr val="C8893B"/>
                </a:solidFill>
                <a:latin typeface="Calibri"/>
              </a:rPr>
              <a:t>THE NEXT MOVE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65008" y="2304288"/>
            <a:ext cx="2560320" cy="1371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2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Resource Allocation: Human vs. Agent Roles.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4160520"/>
            <a:ext cx="256032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2000"/>
              </a:lnSpc>
            </a:pPr>
            <a:r>
              <a:rPr sz="900" b="0">
                <a:solidFill>
                  <a:srgbClr val="BDC1C9"/>
                </a:solidFill>
                <a:latin typeface="Calibri"/>
              </a:rPr>
              <a:t>The proliferation of AI models across enterprise applications has outpaced the development of.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164592"/>
            <a:ext cx="4937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C8893B"/>
                </a:solidFill>
                <a:latin typeface="Calibri"/>
              </a:rPr>
              <a:t>SECTION 12 -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38383" y="146304"/>
            <a:ext cx="658368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D9DBE0"/>
                </a:solidFill>
                <a:latin typeface="Cambria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438912"/>
            <a:ext cx="1106424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4000"/>
              </a:lnSpc>
            </a:pPr>
            <a:r>
              <a:rPr sz="2400" b="1">
                <a:solidFill>
                  <a:srgbClr val="14213D"/>
                </a:solidFill>
                <a:latin typeface="Cambria"/>
              </a:rPr>
              <a:t>Use real use-case benchmarks instead of generic public evaluations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04672"/>
            <a:ext cx="9692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44506A"/>
                </a:solidFill>
                <a:latin typeface="Calibri"/>
              </a:rPr>
              <a:t>Comparison: Generic Public Benchmarks vs. Proprietary Grounded Benchmarks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00800"/>
            <a:ext cx="97840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4506A"/>
                </a:solidFill>
                <a:latin typeface="Calibri"/>
              </a:rPr>
              <a:t>Source: Bootstrapping Benchmarks &gt; Closing Remarks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33888" y="6400800"/>
            <a:ext cx="8229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44506A"/>
                </a:solidFill>
                <a:latin typeface="Calibri"/>
              </a:rPr>
              <a:t>15/16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325880"/>
            <a:ext cx="10698480" cy="896112"/>
          </a:xfrm>
          <a:prstGeom prst="rect">
            <a:avLst/>
          </a:prstGeom>
          <a:solidFill>
            <a:srgbClr val="FFFFFF"/>
          </a:solidFill>
          <a:ln>
            <a:solidFill>
              <a:srgbClr val="EA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1435607"/>
            <a:ext cx="749808" cy="749808"/>
          </a:xfrm>
          <a:prstGeom prst="ellipse">
            <a:avLst/>
          </a:prstGeom>
          <a:solidFill>
            <a:srgbClr val="D9DBE0"/>
          </a:solidFill>
          <a:ln>
            <a:solidFill>
              <a:srgbClr val="A6A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264" y="1495592"/>
            <a:ext cx="629838" cy="629838"/>
          </a:xfrm>
          <a:prstGeom prst="ellipse">
            <a:avLst/>
          </a:prstGeom>
          <a:solidFill>
            <a:srgbClr val="14213D"/>
          </a:solidFill>
          <a:ln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asitemap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975" y="1649303"/>
            <a:ext cx="322417" cy="32241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048256" y="1554480"/>
            <a:ext cx="8732520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</a:pPr>
            <a:r>
              <a:rPr sz="1400">
                <a:solidFill>
                  <a:srgbClr val="14213D"/>
                </a:solidFill>
                <a:latin typeface="Calibri"/>
              </a:rPr>
              <a:t>The proliferation of AI models across enterprise applications has outpaced the development of evaluation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468880"/>
            <a:ext cx="10698480" cy="896112"/>
          </a:xfrm>
          <a:prstGeom prst="rect">
            <a:avLst/>
          </a:prstGeom>
          <a:solidFill>
            <a:srgbClr val="FFFFFF"/>
          </a:solidFill>
          <a:ln>
            <a:solidFill>
              <a:srgbClr val="EA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97280" y="2578608"/>
            <a:ext cx="749808" cy="749808"/>
          </a:xfrm>
          <a:prstGeom prst="ellipse">
            <a:avLst/>
          </a:prstGeom>
          <a:solidFill>
            <a:srgbClr val="E1E3E7"/>
          </a:solidFill>
          <a:ln>
            <a:solidFill>
              <a:srgbClr val="B8B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57264" y="2638592"/>
            <a:ext cx="629838" cy="629838"/>
          </a:xfrm>
          <a:prstGeom prst="ellipse">
            <a:avLst/>
          </a:prstGeom>
          <a:solidFill>
            <a:srgbClr val="44506A"/>
          </a:solidFill>
          <a:ln>
            <a:solidFill>
              <a:srgbClr val="44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fasitemap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975" y="2792303"/>
            <a:ext cx="322417" cy="32241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048256" y="2697480"/>
            <a:ext cx="8732520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</a:pPr>
            <a:r>
              <a:rPr sz="1400">
                <a:solidFill>
                  <a:srgbClr val="14213D"/>
                </a:solidFill>
                <a:latin typeface="Calibri"/>
              </a:rPr>
              <a:t>Organizations deploying models for consequential decisions need benchmarks that reflect their actual use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3611880"/>
            <a:ext cx="10698480" cy="896112"/>
          </a:xfrm>
          <a:prstGeom prst="rect">
            <a:avLst/>
          </a:prstGeom>
          <a:solidFill>
            <a:srgbClr val="FFFFFF"/>
          </a:solidFill>
          <a:ln>
            <a:solidFill>
              <a:srgbClr val="EA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97280" y="3721608"/>
            <a:ext cx="749808" cy="749808"/>
          </a:xfrm>
          <a:prstGeom prst="ellipse">
            <a:avLst/>
          </a:prstGeom>
          <a:solidFill>
            <a:srgbClr val="F6ECE0"/>
          </a:solidFill>
          <a:ln>
            <a:solidFill>
              <a:srgbClr val="EAD2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57264" y="3781592"/>
            <a:ext cx="629838" cy="629838"/>
          </a:xfrm>
          <a:prstGeom prst="ellipse">
            <a:avLst/>
          </a:prstGeom>
          <a:solidFill>
            <a:srgbClr val="C8893B"/>
          </a:solidFill>
          <a:ln>
            <a:solidFill>
              <a:srgbClr val="C88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fasitemap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975" y="3935303"/>
            <a:ext cx="322417" cy="32241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048256" y="3840480"/>
            <a:ext cx="8732520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</a:pPr>
            <a:r>
              <a:rPr sz="1400">
                <a:solidFill>
                  <a:srgbClr val="14213D"/>
                </a:solidFill>
                <a:latin typeface="Calibri"/>
              </a:rPr>
              <a:t>By shifting from manual benchmark creation to systematic discovery of implicit ground truth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347472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2000"/>
              </a:lnSpc>
            </a:pPr>
            <a:r>
              <a:rPr sz="800" b="1">
                <a:solidFill>
                  <a:srgbClr val="C8893B"/>
                </a:solidFill>
                <a:latin typeface="Cambria"/>
              </a:rPr>
              <a:t>SECTION 13 / FINAL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758952"/>
            <a:ext cx="987552" cy="41148"/>
          </a:xfrm>
          <a:prstGeom prst="rect">
            <a:avLst/>
          </a:prstGeom>
          <a:solidFill>
            <a:srgbClr val="C8893B"/>
          </a:solidFill>
          <a:ln>
            <a:solidFill>
              <a:srgbClr val="C88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932688"/>
            <a:ext cx="8046720" cy="9509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2000"/>
              </a:lnSpc>
            </a:pPr>
            <a:r>
              <a:rPr sz="2700" b="1">
                <a:solidFill>
                  <a:srgbClr val="FFFFFF"/>
                </a:solidFill>
                <a:latin typeface="Cambria"/>
              </a:rPr>
              <a:t>Shift leaders from manual labeling to systematic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55648"/>
            <a:ext cx="694944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2000"/>
              </a:lnSpc>
            </a:pPr>
            <a:r>
              <a:rPr sz="1000" b="0">
                <a:solidFill>
                  <a:srgbClr val="C2C5CD"/>
                </a:solidFill>
                <a:latin typeface="Calibri"/>
              </a:rPr>
              <a:t>Closing Recommendation and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420624"/>
            <a:ext cx="8686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808796"/>
                </a:solidFill>
                <a:latin typeface="Cambria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6355080"/>
            <a:ext cx="768096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2000"/>
              </a:lnSpc>
            </a:pPr>
            <a:r>
              <a:rPr sz="900" b="0">
                <a:solidFill>
                  <a:srgbClr val="AFB4BD"/>
                </a:solidFill>
                <a:latin typeface="Calibri"/>
              </a:rPr>
              <a:t>Source: Bootstrapping Benchmarks &gt; Closing Remarks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355080"/>
            <a:ext cx="804672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2000"/>
              </a:lnSpc>
            </a:pPr>
            <a:r>
              <a:rPr sz="900" b="1">
                <a:solidFill>
                  <a:srgbClr val="AFB4BD"/>
                </a:solidFill>
                <a:latin typeface="Cambria"/>
              </a:rPr>
              <a:t>16/16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286000"/>
            <a:ext cx="201168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2000"/>
              </a:lnSpc>
            </a:pPr>
            <a:r>
              <a:rPr sz="900" b="1">
                <a:solidFill>
                  <a:srgbClr val="C8893B"/>
                </a:solidFill>
                <a:latin typeface="Cambria"/>
              </a:rPr>
              <a:t>RECOMMENDATION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706624"/>
            <a:ext cx="5577840" cy="960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2000"/>
              </a:lnSpc>
            </a:pPr>
            <a:r>
              <a:rPr sz="2400" b="1">
                <a:solidFill>
                  <a:srgbClr val="FFFFFF"/>
                </a:solidFill>
                <a:latin typeface="Cambria"/>
              </a:rPr>
              <a:t>Adopt the operating model through a named pilot and review gate.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4407408"/>
            <a:ext cx="5358384" cy="713232"/>
          </a:xfrm>
          <a:prstGeom prst="rect">
            <a:avLst/>
          </a:prstGeom>
          <a:solidFill>
            <a:srgbClr val="D29E5E"/>
          </a:solidFill>
          <a:ln>
            <a:solidFill>
              <a:srgbClr val="DDB6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4608576"/>
            <a:ext cx="11887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2000"/>
              </a:lnSpc>
            </a:pPr>
            <a:r>
              <a:rPr sz="700" b="1">
                <a:solidFill>
                  <a:srgbClr val="FFFFFF"/>
                </a:solidFill>
                <a:latin typeface="Cambria"/>
              </a:rPr>
              <a:t>DECISION 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67712" y="4553712"/>
            <a:ext cx="349300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2000"/>
              </a:lnSpc>
            </a:pPr>
            <a:r>
              <a:rPr sz="900" b="0">
                <a:solidFill>
                  <a:srgbClr val="FFFFFF"/>
                </a:solidFill>
                <a:latin typeface="Calibri"/>
              </a:rPr>
              <a:t>Confirm ownership and timing.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14032" y="2212848"/>
            <a:ext cx="3767328" cy="694944"/>
          </a:xfrm>
          <a:prstGeom prst="rect">
            <a:avLst/>
          </a:prstGeom>
          <a:solidFill>
            <a:srgbClr val="354058"/>
          </a:solidFill>
          <a:ln>
            <a:solidFill>
              <a:srgbClr val="646C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33488" y="2377440"/>
            <a:ext cx="347472" cy="347472"/>
          </a:xfrm>
          <a:prstGeom prst="ellipse">
            <a:avLst/>
          </a:prstGeom>
          <a:solidFill>
            <a:srgbClr val="14213D"/>
          </a:solidFill>
          <a:ln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l"/>
            <a:r>
              <a:rPr sz="1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2377440"/>
            <a:ext cx="25603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2000"/>
              </a:lnSpc>
            </a:pPr>
            <a:r>
              <a:rPr sz="800" b="0">
                <a:solidFill>
                  <a:srgbClr val="D9DBE0"/>
                </a:solidFill>
                <a:latin typeface="Calibri"/>
              </a:rPr>
              <a:t>Confirm the decision owner.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14032" y="3163824"/>
            <a:ext cx="3767328" cy="694944"/>
          </a:xfrm>
          <a:prstGeom prst="rect">
            <a:avLst/>
          </a:prstGeom>
          <a:solidFill>
            <a:srgbClr val="3E4960"/>
          </a:solidFill>
          <a:ln>
            <a:solidFill>
              <a:srgbClr val="646C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333488" y="3328416"/>
            <a:ext cx="347472" cy="347472"/>
          </a:xfrm>
          <a:prstGeom prst="ellipse">
            <a:avLst/>
          </a:prstGeom>
          <a:solidFill>
            <a:srgbClr val="44506A"/>
          </a:solidFill>
          <a:ln>
            <a:solidFill>
              <a:srgbClr val="44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l"/>
            <a:r>
              <a:rPr sz="1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3328416"/>
            <a:ext cx="25603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2000"/>
              </a:lnSpc>
            </a:pPr>
            <a:r>
              <a:rPr sz="800" b="0">
                <a:solidFill>
                  <a:srgbClr val="D9DBE0"/>
                </a:solidFill>
                <a:latin typeface="Calibri"/>
              </a:rPr>
              <a:t>Run the first governed workflow.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14032" y="4114800"/>
            <a:ext cx="3767328" cy="694944"/>
          </a:xfrm>
          <a:prstGeom prst="rect">
            <a:avLst/>
          </a:prstGeom>
          <a:solidFill>
            <a:srgbClr val="485268"/>
          </a:solidFill>
          <a:ln>
            <a:solidFill>
              <a:srgbClr val="646C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33488" y="4279392"/>
            <a:ext cx="347472" cy="347472"/>
          </a:xfrm>
          <a:prstGeom prst="ellipse">
            <a:avLst/>
          </a:prstGeom>
          <a:solidFill>
            <a:srgbClr val="C8893B"/>
          </a:solidFill>
          <a:ln>
            <a:solidFill>
              <a:srgbClr val="C88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l"/>
            <a:r>
              <a:rPr sz="1000" b="1">
                <a:solidFill>
                  <a:srgbClr val="14213D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82127" y="4279392"/>
            <a:ext cx="25603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2000"/>
              </a:lnSpc>
            </a:pPr>
            <a:r>
              <a:rPr sz="800" b="0">
                <a:solidFill>
                  <a:srgbClr val="D9DBE0"/>
                </a:solidFill>
                <a:latin typeface="Calibri"/>
              </a:rPr>
              <a:t>Update the shared reference after each milestone.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